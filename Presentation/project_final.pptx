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80" r:id="rId8"/>
    <p:sldId id="276" r:id="rId9"/>
    <p:sldId id="277" r:id="rId10"/>
    <p:sldId id="262" r:id="rId11"/>
    <p:sldId id="263" r:id="rId12"/>
    <p:sldId id="265" r:id="rId13"/>
    <p:sldId id="266" r:id="rId14"/>
    <p:sldId id="267" r:id="rId15"/>
    <p:sldId id="264" r:id="rId16"/>
    <p:sldId id="279" r:id="rId17"/>
    <p:sldId id="269" r:id="rId18"/>
    <p:sldId id="270" r:id="rId19"/>
    <p:sldId id="271" r:id="rId20"/>
    <p:sldId id="272" r:id="rId21"/>
    <p:sldId id="283" r:id="rId22"/>
    <p:sldId id="282" r:id="rId23"/>
    <p:sldId id="273" r:id="rId24"/>
    <p:sldId id="281" r:id="rId25"/>
    <p:sldId id="274" r:id="rId26"/>
    <p:sldId id="275" r:id="rId27"/>
    <p:sldId id="268" r:id="rId28"/>
    <p:sldId id="284" r:id="rId29"/>
    <p:sldId id="285" r:id="rId30"/>
    <p:sldId id="27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B7A166-4248-4750-BDFE-261CF047F358}" v="3" dt="2026-04-15T07:02:45.3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 shah" userId="e2eb8c862843b849" providerId="LiveId" clId="{6936EF77-6B21-44CC-9689-CE1C7C163D13}"/>
    <pc:docChg chg="undo custSel addSld delSld modSld sldOrd">
      <pc:chgData name="jai shah" userId="e2eb8c862843b849" providerId="LiveId" clId="{6936EF77-6B21-44CC-9689-CE1C7C163D13}" dt="2026-04-15T07:32:22.470" v="120" actId="1076"/>
      <pc:docMkLst>
        <pc:docMk/>
      </pc:docMkLst>
      <pc:sldChg chg="modSp mod">
        <pc:chgData name="jai shah" userId="e2eb8c862843b849" providerId="LiveId" clId="{6936EF77-6B21-44CC-9689-CE1C7C163D13}" dt="2026-04-14T15:44:26.971" v="0" actId="20577"/>
        <pc:sldMkLst>
          <pc:docMk/>
          <pc:sldMk cId="1728508364" sldId="256"/>
        </pc:sldMkLst>
        <pc:spChg chg="mod">
          <ac:chgData name="jai shah" userId="e2eb8c862843b849" providerId="LiveId" clId="{6936EF77-6B21-44CC-9689-CE1C7C163D13}" dt="2026-04-14T15:44:26.971" v="0" actId="20577"/>
          <ac:spMkLst>
            <pc:docMk/>
            <pc:sldMk cId="1728508364" sldId="256"/>
            <ac:spMk id="4" creationId="{0EF3B094-9C42-7A52-D5D1-C7AB02C27E46}"/>
          </ac:spMkLst>
        </pc:spChg>
      </pc:sldChg>
      <pc:sldChg chg="modSp mod">
        <pc:chgData name="jai shah" userId="e2eb8c862843b849" providerId="LiveId" clId="{6936EF77-6B21-44CC-9689-CE1C7C163D13}" dt="2026-04-15T07:02:47.578" v="102" actId="27636"/>
        <pc:sldMkLst>
          <pc:docMk/>
          <pc:sldMk cId="475716736" sldId="257"/>
        </pc:sldMkLst>
        <pc:spChg chg="mod">
          <ac:chgData name="jai shah" userId="e2eb8c862843b849" providerId="LiveId" clId="{6936EF77-6B21-44CC-9689-CE1C7C163D13}" dt="2026-04-15T07:02:47.578" v="102" actId="27636"/>
          <ac:spMkLst>
            <pc:docMk/>
            <pc:sldMk cId="475716736" sldId="257"/>
            <ac:spMk id="3" creationId="{AD89D85E-410E-7B67-128A-C286BD838CC4}"/>
          </ac:spMkLst>
        </pc:spChg>
      </pc:sldChg>
      <pc:sldChg chg="ord">
        <pc:chgData name="jai shah" userId="e2eb8c862843b849" providerId="LiveId" clId="{6936EF77-6B21-44CC-9689-CE1C7C163D13}" dt="2026-04-15T07:03:11.258" v="107"/>
        <pc:sldMkLst>
          <pc:docMk/>
          <pc:sldMk cId="3948288925" sldId="268"/>
        </pc:sldMkLst>
      </pc:sldChg>
      <pc:sldChg chg="addSp delSp modSp mod">
        <pc:chgData name="jai shah" userId="e2eb8c862843b849" providerId="LiveId" clId="{6936EF77-6B21-44CC-9689-CE1C7C163D13}" dt="2026-04-15T07:32:22.470" v="120" actId="1076"/>
        <pc:sldMkLst>
          <pc:docMk/>
          <pc:sldMk cId="207033662" sldId="275"/>
        </pc:sldMkLst>
        <pc:picChg chg="del">
          <ac:chgData name="jai shah" userId="e2eb8c862843b849" providerId="LiveId" clId="{6936EF77-6B21-44CC-9689-CE1C7C163D13}" dt="2026-04-15T07:26:25.494" v="108" actId="478"/>
          <ac:picMkLst>
            <pc:docMk/>
            <pc:sldMk cId="207033662" sldId="275"/>
            <ac:picMk id="4" creationId="{20DBA9CA-FDA3-5650-E141-7F545F7E0B02}"/>
          </ac:picMkLst>
        </pc:picChg>
        <pc:picChg chg="add del mod">
          <ac:chgData name="jai shah" userId="e2eb8c862843b849" providerId="LiveId" clId="{6936EF77-6B21-44CC-9689-CE1C7C163D13}" dt="2026-04-15T07:32:06.666" v="115" actId="478"/>
          <ac:picMkLst>
            <pc:docMk/>
            <pc:sldMk cId="207033662" sldId="275"/>
            <ac:picMk id="7" creationId="{B8B9DEE1-8DF5-7398-3D67-9C17C0984200}"/>
          </ac:picMkLst>
        </pc:picChg>
        <pc:picChg chg="add mod">
          <ac:chgData name="jai shah" userId="e2eb8c862843b849" providerId="LiveId" clId="{6936EF77-6B21-44CC-9689-CE1C7C163D13}" dt="2026-04-15T07:32:22.470" v="120" actId="1076"/>
          <ac:picMkLst>
            <pc:docMk/>
            <pc:sldMk cId="207033662" sldId="275"/>
            <ac:picMk id="9" creationId="{271B381D-675A-78F3-121B-C300594ECA6A}"/>
          </ac:picMkLst>
        </pc:picChg>
      </pc:sldChg>
      <pc:sldChg chg="modSp mod">
        <pc:chgData name="jai shah" userId="e2eb8c862843b849" providerId="LiveId" clId="{6936EF77-6B21-44CC-9689-CE1C7C163D13}" dt="2026-04-14T15:46:32.333" v="1" actId="732"/>
        <pc:sldMkLst>
          <pc:docMk/>
          <pc:sldMk cId="4234841010" sldId="280"/>
        </pc:sldMkLst>
        <pc:picChg chg="mod modCrop">
          <ac:chgData name="jai shah" userId="e2eb8c862843b849" providerId="LiveId" clId="{6936EF77-6B21-44CC-9689-CE1C7C163D13}" dt="2026-04-14T15:46:32.333" v="1" actId="732"/>
          <ac:picMkLst>
            <pc:docMk/>
            <pc:sldMk cId="4234841010" sldId="280"/>
            <ac:picMk id="19" creationId="{ABE13FB1-6F86-91CB-2B86-E75C8DDB8EC7}"/>
          </ac:picMkLst>
        </pc:picChg>
      </pc:sldChg>
      <pc:sldChg chg="modSp new mod">
        <pc:chgData name="jai shah" userId="e2eb8c862843b849" providerId="LiveId" clId="{6936EF77-6B21-44CC-9689-CE1C7C163D13}" dt="2026-04-15T07:01:13.846" v="59" actId="20577"/>
        <pc:sldMkLst>
          <pc:docMk/>
          <pc:sldMk cId="1236063489" sldId="284"/>
        </pc:sldMkLst>
        <pc:spChg chg="mod">
          <ac:chgData name="jai shah" userId="e2eb8c862843b849" providerId="LiveId" clId="{6936EF77-6B21-44CC-9689-CE1C7C163D13}" dt="2026-04-15T07:00:13.589" v="41" actId="1076"/>
          <ac:spMkLst>
            <pc:docMk/>
            <pc:sldMk cId="1236063489" sldId="284"/>
            <ac:spMk id="2" creationId="{A4FE1C1E-D790-3F01-C856-A03220F1C144}"/>
          </ac:spMkLst>
        </pc:spChg>
        <pc:spChg chg="mod">
          <ac:chgData name="jai shah" userId="e2eb8c862843b849" providerId="LiveId" clId="{6936EF77-6B21-44CC-9689-CE1C7C163D13}" dt="2026-04-15T07:01:13.846" v="59" actId="20577"/>
          <ac:spMkLst>
            <pc:docMk/>
            <pc:sldMk cId="1236063489" sldId="284"/>
            <ac:spMk id="3" creationId="{A6DE067A-BB8D-23BE-0497-4A1A89AB77F8}"/>
          </ac:spMkLst>
        </pc:spChg>
      </pc:sldChg>
      <pc:sldChg chg="modSp new mod">
        <pc:chgData name="jai shah" userId="e2eb8c862843b849" providerId="LiveId" clId="{6936EF77-6B21-44CC-9689-CE1C7C163D13}" dt="2026-04-15T07:02:07.511" v="81" actId="1076"/>
        <pc:sldMkLst>
          <pc:docMk/>
          <pc:sldMk cId="3098574090" sldId="285"/>
        </pc:sldMkLst>
        <pc:spChg chg="mod">
          <ac:chgData name="jai shah" userId="e2eb8c862843b849" providerId="LiveId" clId="{6936EF77-6B21-44CC-9689-CE1C7C163D13}" dt="2026-04-15T07:02:07.511" v="81" actId="1076"/>
          <ac:spMkLst>
            <pc:docMk/>
            <pc:sldMk cId="3098574090" sldId="285"/>
            <ac:spMk id="2" creationId="{8D182080-4CC5-5528-28CA-0D28D79B2C2F}"/>
          </ac:spMkLst>
        </pc:spChg>
        <pc:spChg chg="mod">
          <ac:chgData name="jai shah" userId="e2eb8c862843b849" providerId="LiveId" clId="{6936EF77-6B21-44CC-9689-CE1C7C163D13}" dt="2026-04-15T07:02:04.019" v="80" actId="14100"/>
          <ac:spMkLst>
            <pc:docMk/>
            <pc:sldMk cId="3098574090" sldId="285"/>
            <ac:spMk id="3" creationId="{23D50E76-D2BB-A6AA-8FBE-DA0D4E8078B1}"/>
          </ac:spMkLst>
        </pc:spChg>
      </pc:sldChg>
      <pc:sldChg chg="modSp new del mod">
        <pc:chgData name="jai shah" userId="e2eb8c862843b849" providerId="LiveId" clId="{6936EF77-6B21-44CC-9689-CE1C7C163D13}" dt="2026-04-15T07:03:07.104" v="105" actId="2696"/>
        <pc:sldMkLst>
          <pc:docMk/>
          <pc:sldMk cId="3853828318" sldId="286"/>
        </pc:sldMkLst>
        <pc:spChg chg="mod">
          <ac:chgData name="jai shah" userId="e2eb8c862843b849" providerId="LiveId" clId="{6936EF77-6B21-44CC-9689-CE1C7C163D13}" dt="2026-04-15T07:02:24.302" v="93" actId="20577"/>
          <ac:spMkLst>
            <pc:docMk/>
            <pc:sldMk cId="3853828318" sldId="286"/>
            <ac:spMk id="2" creationId="{212A8F94-C8C8-36B6-B565-27841A33ACD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7A2057-4C60-49B0-B241-CA3A31BEF875}" type="datetimeFigureOut">
              <a:rPr lang="en-IN" smtClean="0"/>
              <a:t>15-04-2026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3F3DF4-991D-4348-8300-9C9766A4374D}" type="slidenum">
              <a:rPr lang="en-IN" smtClean="0"/>
              <a:t>‹#›</a:t>
            </a:fld>
            <a:endParaRPr lang="en-IN"/>
          </a:p>
        </p:txBody>
      </p:sp>
    </p:spTree>
    <p:extLst>
      <p:ext uri="{BB962C8B-B14F-4D97-AF65-F5344CB8AC3E}">
        <p14:creationId xmlns:p14="http://schemas.microsoft.com/office/powerpoint/2010/main" val="22232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3F3DF4-991D-4348-8300-9C9766A4374D}" type="slidenum">
              <a:rPr lang="en-IN" smtClean="0"/>
              <a:t>8</a:t>
            </a:fld>
            <a:endParaRPr lang="en-IN"/>
          </a:p>
        </p:txBody>
      </p:sp>
    </p:spTree>
    <p:extLst>
      <p:ext uri="{BB962C8B-B14F-4D97-AF65-F5344CB8AC3E}">
        <p14:creationId xmlns:p14="http://schemas.microsoft.com/office/powerpoint/2010/main" val="2501633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F3F3DF4-991D-4348-8300-9C9766A4374D}" type="slidenum">
              <a:rPr lang="en-IN" smtClean="0"/>
              <a:t>26</a:t>
            </a:fld>
            <a:endParaRPr lang="en-IN"/>
          </a:p>
        </p:txBody>
      </p:sp>
    </p:spTree>
    <p:extLst>
      <p:ext uri="{BB962C8B-B14F-4D97-AF65-F5344CB8AC3E}">
        <p14:creationId xmlns:p14="http://schemas.microsoft.com/office/powerpoint/2010/main" val="34869413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DA4E8-4884-7D40-A85D-B15C512AF3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ECF22F-8701-C1C1-7424-1C84F5A9EF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14DA2D3-DC92-8832-607F-90B7A8444953}"/>
              </a:ext>
            </a:extLst>
          </p:cNvPr>
          <p:cNvSpPr>
            <a:spLocks noGrp="1"/>
          </p:cNvSpPr>
          <p:nvPr>
            <p:ph type="dt" sz="half" idx="10"/>
          </p:nvPr>
        </p:nvSpPr>
        <p:spPr/>
        <p:txBody>
          <a:bodyPr/>
          <a:lstStyle/>
          <a:p>
            <a:fld id="{42A82BB7-A36F-454C-9D72-7FF79240B2DB}" type="datetimeFigureOut">
              <a:rPr lang="en-IN" smtClean="0"/>
              <a:t>15-04-2026</a:t>
            </a:fld>
            <a:endParaRPr lang="en-IN"/>
          </a:p>
        </p:txBody>
      </p:sp>
      <p:sp>
        <p:nvSpPr>
          <p:cNvPr id="5" name="Footer Placeholder 4">
            <a:extLst>
              <a:ext uri="{FF2B5EF4-FFF2-40B4-BE49-F238E27FC236}">
                <a16:creationId xmlns:a16="http://schemas.microsoft.com/office/drawing/2014/main" id="{03EE6EA0-E2B8-475D-81EC-16567C9D6F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CC27A8-0B5B-39C1-7D0B-5481A0E7393A}"/>
              </a:ext>
            </a:extLst>
          </p:cNvPr>
          <p:cNvSpPr>
            <a:spLocks noGrp="1"/>
          </p:cNvSpPr>
          <p:nvPr>
            <p:ph type="sldNum" sz="quarter" idx="12"/>
          </p:nvPr>
        </p:nvSpPr>
        <p:spPr/>
        <p:txBody>
          <a:bodyPr/>
          <a:lstStyle/>
          <a:p>
            <a:fld id="{70FE22E3-DC54-4EC1-B90C-A0E5B3CBF56C}" type="slidenum">
              <a:rPr lang="en-IN" smtClean="0"/>
              <a:t>‹#›</a:t>
            </a:fld>
            <a:endParaRPr lang="en-IN"/>
          </a:p>
        </p:txBody>
      </p:sp>
    </p:spTree>
    <p:extLst>
      <p:ext uri="{BB962C8B-B14F-4D97-AF65-F5344CB8AC3E}">
        <p14:creationId xmlns:p14="http://schemas.microsoft.com/office/powerpoint/2010/main" val="440533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5FA7E-4E42-8DA7-E74E-A42D49DAF9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BBE5DB-1113-8632-5932-F20D305072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473550-B136-80B1-A135-273D466D5041}"/>
              </a:ext>
            </a:extLst>
          </p:cNvPr>
          <p:cNvSpPr>
            <a:spLocks noGrp="1"/>
          </p:cNvSpPr>
          <p:nvPr>
            <p:ph type="dt" sz="half" idx="10"/>
          </p:nvPr>
        </p:nvSpPr>
        <p:spPr/>
        <p:txBody>
          <a:bodyPr/>
          <a:lstStyle/>
          <a:p>
            <a:fld id="{42A82BB7-A36F-454C-9D72-7FF79240B2DB}" type="datetimeFigureOut">
              <a:rPr lang="en-IN" smtClean="0"/>
              <a:t>15-04-2026</a:t>
            </a:fld>
            <a:endParaRPr lang="en-IN"/>
          </a:p>
        </p:txBody>
      </p:sp>
      <p:sp>
        <p:nvSpPr>
          <p:cNvPr id="5" name="Footer Placeholder 4">
            <a:extLst>
              <a:ext uri="{FF2B5EF4-FFF2-40B4-BE49-F238E27FC236}">
                <a16:creationId xmlns:a16="http://schemas.microsoft.com/office/drawing/2014/main" id="{6656C49A-23F6-8C32-62A9-7720B4ACA7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C82947-32D4-F808-FDDB-120A6D5A3AF1}"/>
              </a:ext>
            </a:extLst>
          </p:cNvPr>
          <p:cNvSpPr>
            <a:spLocks noGrp="1"/>
          </p:cNvSpPr>
          <p:nvPr>
            <p:ph type="sldNum" sz="quarter" idx="12"/>
          </p:nvPr>
        </p:nvSpPr>
        <p:spPr/>
        <p:txBody>
          <a:bodyPr/>
          <a:lstStyle/>
          <a:p>
            <a:fld id="{70FE22E3-DC54-4EC1-B90C-A0E5B3CBF56C}" type="slidenum">
              <a:rPr lang="en-IN" smtClean="0"/>
              <a:t>‹#›</a:t>
            </a:fld>
            <a:endParaRPr lang="en-IN"/>
          </a:p>
        </p:txBody>
      </p:sp>
    </p:spTree>
    <p:extLst>
      <p:ext uri="{BB962C8B-B14F-4D97-AF65-F5344CB8AC3E}">
        <p14:creationId xmlns:p14="http://schemas.microsoft.com/office/powerpoint/2010/main" val="1845509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50504-178D-C5AA-7345-E27B1FB1EB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5F107BC-066F-788C-63AB-21F1D923150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CF5CAC-FCFE-478E-1562-30F2B5E9C341}"/>
              </a:ext>
            </a:extLst>
          </p:cNvPr>
          <p:cNvSpPr>
            <a:spLocks noGrp="1"/>
          </p:cNvSpPr>
          <p:nvPr>
            <p:ph type="dt" sz="half" idx="10"/>
          </p:nvPr>
        </p:nvSpPr>
        <p:spPr/>
        <p:txBody>
          <a:bodyPr/>
          <a:lstStyle/>
          <a:p>
            <a:fld id="{42A82BB7-A36F-454C-9D72-7FF79240B2DB}" type="datetimeFigureOut">
              <a:rPr lang="en-IN" smtClean="0"/>
              <a:t>15-04-2026</a:t>
            </a:fld>
            <a:endParaRPr lang="en-IN"/>
          </a:p>
        </p:txBody>
      </p:sp>
      <p:sp>
        <p:nvSpPr>
          <p:cNvPr id="5" name="Footer Placeholder 4">
            <a:extLst>
              <a:ext uri="{FF2B5EF4-FFF2-40B4-BE49-F238E27FC236}">
                <a16:creationId xmlns:a16="http://schemas.microsoft.com/office/drawing/2014/main" id="{2353A0AB-F86A-A558-BB22-985458800C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3D001E-4AA0-2BE3-366B-71B5D4A6738A}"/>
              </a:ext>
            </a:extLst>
          </p:cNvPr>
          <p:cNvSpPr>
            <a:spLocks noGrp="1"/>
          </p:cNvSpPr>
          <p:nvPr>
            <p:ph type="sldNum" sz="quarter" idx="12"/>
          </p:nvPr>
        </p:nvSpPr>
        <p:spPr/>
        <p:txBody>
          <a:bodyPr/>
          <a:lstStyle/>
          <a:p>
            <a:fld id="{70FE22E3-DC54-4EC1-B90C-A0E5B3CBF56C}" type="slidenum">
              <a:rPr lang="en-IN" smtClean="0"/>
              <a:t>‹#›</a:t>
            </a:fld>
            <a:endParaRPr lang="en-IN"/>
          </a:p>
        </p:txBody>
      </p:sp>
    </p:spTree>
    <p:extLst>
      <p:ext uri="{BB962C8B-B14F-4D97-AF65-F5344CB8AC3E}">
        <p14:creationId xmlns:p14="http://schemas.microsoft.com/office/powerpoint/2010/main" val="1898762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61CE4-A40D-7452-B07B-D53B21872A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0AC182-82D5-2DC8-1DAF-11564FB3FF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F9398A3-7864-6D0A-CC60-EFD3E8FB9D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CF9933A-7939-3E04-5881-953F4DA47A55}"/>
              </a:ext>
            </a:extLst>
          </p:cNvPr>
          <p:cNvSpPr>
            <a:spLocks noGrp="1"/>
          </p:cNvSpPr>
          <p:nvPr>
            <p:ph type="dt" sz="half" idx="10"/>
          </p:nvPr>
        </p:nvSpPr>
        <p:spPr/>
        <p:txBody>
          <a:bodyPr/>
          <a:lstStyle/>
          <a:p>
            <a:fld id="{42A82BB7-A36F-454C-9D72-7FF79240B2DB}" type="datetimeFigureOut">
              <a:rPr lang="en-IN" smtClean="0"/>
              <a:t>15-04-2026</a:t>
            </a:fld>
            <a:endParaRPr lang="en-IN"/>
          </a:p>
        </p:txBody>
      </p:sp>
      <p:sp>
        <p:nvSpPr>
          <p:cNvPr id="6" name="Footer Placeholder 5">
            <a:extLst>
              <a:ext uri="{FF2B5EF4-FFF2-40B4-BE49-F238E27FC236}">
                <a16:creationId xmlns:a16="http://schemas.microsoft.com/office/drawing/2014/main" id="{FDB7A6CE-5C2C-FD21-3FCB-7F691A1206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9C050B-9683-6E6F-6124-E21350E6F7EE}"/>
              </a:ext>
            </a:extLst>
          </p:cNvPr>
          <p:cNvSpPr>
            <a:spLocks noGrp="1"/>
          </p:cNvSpPr>
          <p:nvPr>
            <p:ph type="sldNum" sz="quarter" idx="12"/>
          </p:nvPr>
        </p:nvSpPr>
        <p:spPr/>
        <p:txBody>
          <a:bodyPr/>
          <a:lstStyle/>
          <a:p>
            <a:fld id="{70FE22E3-DC54-4EC1-B90C-A0E5B3CBF56C}" type="slidenum">
              <a:rPr lang="en-IN" smtClean="0"/>
              <a:t>‹#›</a:t>
            </a:fld>
            <a:endParaRPr lang="en-IN"/>
          </a:p>
        </p:txBody>
      </p:sp>
    </p:spTree>
    <p:extLst>
      <p:ext uri="{BB962C8B-B14F-4D97-AF65-F5344CB8AC3E}">
        <p14:creationId xmlns:p14="http://schemas.microsoft.com/office/powerpoint/2010/main" val="384196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7CFC1-5000-4250-7212-E462D070BCA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703E11-4C76-B2FD-63E4-6D134F3B1E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C58175D-D9B3-59AB-A7CC-16F32989E7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03F9B3A-E37C-BABE-405E-6F14E6FC58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9A0CE3-E759-D671-E889-6557AC9490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B5FEF41-D9A1-68CA-D497-CA60E8FA4199}"/>
              </a:ext>
            </a:extLst>
          </p:cNvPr>
          <p:cNvSpPr>
            <a:spLocks noGrp="1"/>
          </p:cNvSpPr>
          <p:nvPr>
            <p:ph type="dt" sz="half" idx="10"/>
          </p:nvPr>
        </p:nvSpPr>
        <p:spPr/>
        <p:txBody>
          <a:bodyPr/>
          <a:lstStyle/>
          <a:p>
            <a:fld id="{42A82BB7-A36F-454C-9D72-7FF79240B2DB}" type="datetimeFigureOut">
              <a:rPr lang="en-IN" smtClean="0"/>
              <a:t>15-04-2026</a:t>
            </a:fld>
            <a:endParaRPr lang="en-IN"/>
          </a:p>
        </p:txBody>
      </p:sp>
      <p:sp>
        <p:nvSpPr>
          <p:cNvPr id="8" name="Footer Placeholder 7">
            <a:extLst>
              <a:ext uri="{FF2B5EF4-FFF2-40B4-BE49-F238E27FC236}">
                <a16:creationId xmlns:a16="http://schemas.microsoft.com/office/drawing/2014/main" id="{770BBB64-555A-52A8-B8CE-4B0D257A837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0606682-BCAD-111A-0322-3C80A29AA3C6}"/>
              </a:ext>
            </a:extLst>
          </p:cNvPr>
          <p:cNvSpPr>
            <a:spLocks noGrp="1"/>
          </p:cNvSpPr>
          <p:nvPr>
            <p:ph type="sldNum" sz="quarter" idx="12"/>
          </p:nvPr>
        </p:nvSpPr>
        <p:spPr/>
        <p:txBody>
          <a:bodyPr/>
          <a:lstStyle/>
          <a:p>
            <a:fld id="{70FE22E3-DC54-4EC1-B90C-A0E5B3CBF56C}" type="slidenum">
              <a:rPr lang="en-IN" smtClean="0"/>
              <a:t>‹#›</a:t>
            </a:fld>
            <a:endParaRPr lang="en-IN"/>
          </a:p>
        </p:txBody>
      </p:sp>
    </p:spTree>
    <p:extLst>
      <p:ext uri="{BB962C8B-B14F-4D97-AF65-F5344CB8AC3E}">
        <p14:creationId xmlns:p14="http://schemas.microsoft.com/office/powerpoint/2010/main" val="2118277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FB99C-FD13-333D-AF99-54C86599FF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6DE109-074A-E402-5828-0BED5809DA2B}"/>
              </a:ext>
            </a:extLst>
          </p:cNvPr>
          <p:cNvSpPr>
            <a:spLocks noGrp="1"/>
          </p:cNvSpPr>
          <p:nvPr>
            <p:ph type="dt" sz="half" idx="10"/>
          </p:nvPr>
        </p:nvSpPr>
        <p:spPr/>
        <p:txBody>
          <a:bodyPr/>
          <a:lstStyle/>
          <a:p>
            <a:fld id="{42A82BB7-A36F-454C-9D72-7FF79240B2DB}" type="datetimeFigureOut">
              <a:rPr lang="en-IN" smtClean="0"/>
              <a:t>15-04-2026</a:t>
            </a:fld>
            <a:endParaRPr lang="en-IN"/>
          </a:p>
        </p:txBody>
      </p:sp>
      <p:sp>
        <p:nvSpPr>
          <p:cNvPr id="4" name="Footer Placeholder 3">
            <a:extLst>
              <a:ext uri="{FF2B5EF4-FFF2-40B4-BE49-F238E27FC236}">
                <a16:creationId xmlns:a16="http://schemas.microsoft.com/office/drawing/2014/main" id="{D2D4397B-A3EB-C67A-6D61-533C73D3010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22D2EFE-0E3E-6C2D-5798-CC24ED0E25A0}"/>
              </a:ext>
            </a:extLst>
          </p:cNvPr>
          <p:cNvSpPr>
            <a:spLocks noGrp="1"/>
          </p:cNvSpPr>
          <p:nvPr>
            <p:ph type="sldNum" sz="quarter" idx="12"/>
          </p:nvPr>
        </p:nvSpPr>
        <p:spPr/>
        <p:txBody>
          <a:bodyPr/>
          <a:lstStyle/>
          <a:p>
            <a:fld id="{70FE22E3-DC54-4EC1-B90C-A0E5B3CBF56C}" type="slidenum">
              <a:rPr lang="en-IN" smtClean="0"/>
              <a:t>‹#›</a:t>
            </a:fld>
            <a:endParaRPr lang="en-IN"/>
          </a:p>
        </p:txBody>
      </p:sp>
    </p:spTree>
    <p:extLst>
      <p:ext uri="{BB962C8B-B14F-4D97-AF65-F5344CB8AC3E}">
        <p14:creationId xmlns:p14="http://schemas.microsoft.com/office/powerpoint/2010/main" val="1667566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4A2250-B39D-F979-AE6A-3D6856EFB967}"/>
              </a:ext>
            </a:extLst>
          </p:cNvPr>
          <p:cNvSpPr>
            <a:spLocks noGrp="1"/>
          </p:cNvSpPr>
          <p:nvPr>
            <p:ph type="dt" sz="half" idx="10"/>
          </p:nvPr>
        </p:nvSpPr>
        <p:spPr/>
        <p:txBody>
          <a:bodyPr/>
          <a:lstStyle/>
          <a:p>
            <a:fld id="{42A82BB7-A36F-454C-9D72-7FF79240B2DB}" type="datetimeFigureOut">
              <a:rPr lang="en-IN" smtClean="0"/>
              <a:t>15-04-2026</a:t>
            </a:fld>
            <a:endParaRPr lang="en-IN"/>
          </a:p>
        </p:txBody>
      </p:sp>
      <p:sp>
        <p:nvSpPr>
          <p:cNvPr id="3" name="Footer Placeholder 2">
            <a:extLst>
              <a:ext uri="{FF2B5EF4-FFF2-40B4-BE49-F238E27FC236}">
                <a16:creationId xmlns:a16="http://schemas.microsoft.com/office/drawing/2014/main" id="{6D5F106E-8061-C24B-AC45-B2A5279EBB3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BE65FB0-558F-EE19-20CD-2D32B729A198}"/>
              </a:ext>
            </a:extLst>
          </p:cNvPr>
          <p:cNvSpPr>
            <a:spLocks noGrp="1"/>
          </p:cNvSpPr>
          <p:nvPr>
            <p:ph type="sldNum" sz="quarter" idx="12"/>
          </p:nvPr>
        </p:nvSpPr>
        <p:spPr/>
        <p:txBody>
          <a:bodyPr/>
          <a:lstStyle/>
          <a:p>
            <a:fld id="{70FE22E3-DC54-4EC1-B90C-A0E5B3CBF56C}" type="slidenum">
              <a:rPr lang="en-IN" smtClean="0"/>
              <a:t>‹#›</a:t>
            </a:fld>
            <a:endParaRPr lang="en-IN"/>
          </a:p>
        </p:txBody>
      </p:sp>
    </p:spTree>
    <p:extLst>
      <p:ext uri="{BB962C8B-B14F-4D97-AF65-F5344CB8AC3E}">
        <p14:creationId xmlns:p14="http://schemas.microsoft.com/office/powerpoint/2010/main" val="40427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DC346-A127-29C4-4AB1-0C4CAB6C14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A5E6DB3-28CE-3C35-1CC9-EB190B569A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B4B518-FBD8-2C62-CDA6-0FE3F93A56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8F9D2C-39F2-BC41-9FE5-CA3F4834A0D7}"/>
              </a:ext>
            </a:extLst>
          </p:cNvPr>
          <p:cNvSpPr>
            <a:spLocks noGrp="1"/>
          </p:cNvSpPr>
          <p:nvPr>
            <p:ph type="dt" sz="half" idx="10"/>
          </p:nvPr>
        </p:nvSpPr>
        <p:spPr/>
        <p:txBody>
          <a:bodyPr/>
          <a:lstStyle/>
          <a:p>
            <a:fld id="{42A82BB7-A36F-454C-9D72-7FF79240B2DB}" type="datetimeFigureOut">
              <a:rPr lang="en-IN" smtClean="0"/>
              <a:t>15-04-2026</a:t>
            </a:fld>
            <a:endParaRPr lang="en-IN"/>
          </a:p>
        </p:txBody>
      </p:sp>
      <p:sp>
        <p:nvSpPr>
          <p:cNvPr id="6" name="Footer Placeholder 5">
            <a:extLst>
              <a:ext uri="{FF2B5EF4-FFF2-40B4-BE49-F238E27FC236}">
                <a16:creationId xmlns:a16="http://schemas.microsoft.com/office/drawing/2014/main" id="{6A2009CA-DB25-6CE8-8DB4-C4AA2D1804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013410-4847-23A0-11B6-83D53AE9EA20}"/>
              </a:ext>
            </a:extLst>
          </p:cNvPr>
          <p:cNvSpPr>
            <a:spLocks noGrp="1"/>
          </p:cNvSpPr>
          <p:nvPr>
            <p:ph type="sldNum" sz="quarter" idx="12"/>
          </p:nvPr>
        </p:nvSpPr>
        <p:spPr/>
        <p:txBody>
          <a:bodyPr/>
          <a:lstStyle/>
          <a:p>
            <a:fld id="{70FE22E3-DC54-4EC1-B90C-A0E5B3CBF56C}" type="slidenum">
              <a:rPr lang="en-IN" smtClean="0"/>
              <a:t>‹#›</a:t>
            </a:fld>
            <a:endParaRPr lang="en-IN"/>
          </a:p>
        </p:txBody>
      </p:sp>
    </p:spTree>
    <p:extLst>
      <p:ext uri="{BB962C8B-B14F-4D97-AF65-F5344CB8AC3E}">
        <p14:creationId xmlns:p14="http://schemas.microsoft.com/office/powerpoint/2010/main" val="368681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F8500-C50E-E7CC-84DB-07E4E99924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33845C1-76A1-5D4A-F18E-1362FC23AC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C76382-806F-6503-9577-B40D6F879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0E3AD8-5ADC-92D5-B003-B8D0E3CE18B4}"/>
              </a:ext>
            </a:extLst>
          </p:cNvPr>
          <p:cNvSpPr>
            <a:spLocks noGrp="1"/>
          </p:cNvSpPr>
          <p:nvPr>
            <p:ph type="dt" sz="half" idx="10"/>
          </p:nvPr>
        </p:nvSpPr>
        <p:spPr/>
        <p:txBody>
          <a:bodyPr/>
          <a:lstStyle/>
          <a:p>
            <a:fld id="{42A82BB7-A36F-454C-9D72-7FF79240B2DB}" type="datetimeFigureOut">
              <a:rPr lang="en-IN" smtClean="0"/>
              <a:t>15-04-2026</a:t>
            </a:fld>
            <a:endParaRPr lang="en-IN"/>
          </a:p>
        </p:txBody>
      </p:sp>
      <p:sp>
        <p:nvSpPr>
          <p:cNvPr id="6" name="Footer Placeholder 5">
            <a:extLst>
              <a:ext uri="{FF2B5EF4-FFF2-40B4-BE49-F238E27FC236}">
                <a16:creationId xmlns:a16="http://schemas.microsoft.com/office/drawing/2014/main" id="{D1CF61AC-5A70-E934-F7FF-8C04E283C03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D8EFEB-E7B2-1396-9193-EB9832E12B26}"/>
              </a:ext>
            </a:extLst>
          </p:cNvPr>
          <p:cNvSpPr>
            <a:spLocks noGrp="1"/>
          </p:cNvSpPr>
          <p:nvPr>
            <p:ph type="sldNum" sz="quarter" idx="12"/>
          </p:nvPr>
        </p:nvSpPr>
        <p:spPr/>
        <p:txBody>
          <a:bodyPr/>
          <a:lstStyle/>
          <a:p>
            <a:fld id="{70FE22E3-DC54-4EC1-B90C-A0E5B3CBF56C}" type="slidenum">
              <a:rPr lang="en-IN" smtClean="0"/>
              <a:t>‹#›</a:t>
            </a:fld>
            <a:endParaRPr lang="en-IN"/>
          </a:p>
        </p:txBody>
      </p:sp>
    </p:spTree>
    <p:extLst>
      <p:ext uri="{BB962C8B-B14F-4D97-AF65-F5344CB8AC3E}">
        <p14:creationId xmlns:p14="http://schemas.microsoft.com/office/powerpoint/2010/main" val="2918547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3919A-FDC2-55AA-5E20-42F3D22F64A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29A587A-139A-8CC9-6ED1-190C0CB7BE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A9C3D9-D7AE-AE71-C4B9-EAE1DFE29005}"/>
              </a:ext>
            </a:extLst>
          </p:cNvPr>
          <p:cNvSpPr>
            <a:spLocks noGrp="1"/>
          </p:cNvSpPr>
          <p:nvPr>
            <p:ph type="dt" sz="half" idx="10"/>
          </p:nvPr>
        </p:nvSpPr>
        <p:spPr/>
        <p:txBody>
          <a:bodyPr/>
          <a:lstStyle/>
          <a:p>
            <a:fld id="{42A82BB7-A36F-454C-9D72-7FF79240B2DB}" type="datetimeFigureOut">
              <a:rPr lang="en-IN" smtClean="0"/>
              <a:t>15-04-2026</a:t>
            </a:fld>
            <a:endParaRPr lang="en-IN"/>
          </a:p>
        </p:txBody>
      </p:sp>
      <p:sp>
        <p:nvSpPr>
          <p:cNvPr id="5" name="Footer Placeholder 4">
            <a:extLst>
              <a:ext uri="{FF2B5EF4-FFF2-40B4-BE49-F238E27FC236}">
                <a16:creationId xmlns:a16="http://schemas.microsoft.com/office/drawing/2014/main" id="{4608BCE3-CE71-2F42-5573-DE3A27EC78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829DE6-4832-BAC0-4C2F-FEB62D2BA592}"/>
              </a:ext>
            </a:extLst>
          </p:cNvPr>
          <p:cNvSpPr>
            <a:spLocks noGrp="1"/>
          </p:cNvSpPr>
          <p:nvPr>
            <p:ph type="sldNum" sz="quarter" idx="12"/>
          </p:nvPr>
        </p:nvSpPr>
        <p:spPr/>
        <p:txBody>
          <a:bodyPr/>
          <a:lstStyle/>
          <a:p>
            <a:fld id="{70FE22E3-DC54-4EC1-B90C-A0E5B3CBF56C}" type="slidenum">
              <a:rPr lang="en-IN" smtClean="0"/>
              <a:t>‹#›</a:t>
            </a:fld>
            <a:endParaRPr lang="en-IN"/>
          </a:p>
        </p:txBody>
      </p:sp>
    </p:spTree>
    <p:extLst>
      <p:ext uri="{BB962C8B-B14F-4D97-AF65-F5344CB8AC3E}">
        <p14:creationId xmlns:p14="http://schemas.microsoft.com/office/powerpoint/2010/main" val="3341923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F60A5C-F163-1C93-6F1F-3B210A1DAD5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41F8B1-7D4F-8EEC-BC96-4FF2C03AE6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009BF1-8A61-9209-6644-DB173C53AEC9}"/>
              </a:ext>
            </a:extLst>
          </p:cNvPr>
          <p:cNvSpPr>
            <a:spLocks noGrp="1"/>
          </p:cNvSpPr>
          <p:nvPr>
            <p:ph type="dt" sz="half" idx="10"/>
          </p:nvPr>
        </p:nvSpPr>
        <p:spPr/>
        <p:txBody>
          <a:bodyPr/>
          <a:lstStyle/>
          <a:p>
            <a:fld id="{42A82BB7-A36F-454C-9D72-7FF79240B2DB}" type="datetimeFigureOut">
              <a:rPr lang="en-IN" smtClean="0"/>
              <a:t>15-04-2026</a:t>
            </a:fld>
            <a:endParaRPr lang="en-IN"/>
          </a:p>
        </p:txBody>
      </p:sp>
      <p:sp>
        <p:nvSpPr>
          <p:cNvPr id="5" name="Footer Placeholder 4">
            <a:extLst>
              <a:ext uri="{FF2B5EF4-FFF2-40B4-BE49-F238E27FC236}">
                <a16:creationId xmlns:a16="http://schemas.microsoft.com/office/drawing/2014/main" id="{092280AE-6E3F-9972-FD32-B57F682990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3B05B7-544A-4FB8-278C-0DBA89B24611}"/>
              </a:ext>
            </a:extLst>
          </p:cNvPr>
          <p:cNvSpPr>
            <a:spLocks noGrp="1"/>
          </p:cNvSpPr>
          <p:nvPr>
            <p:ph type="sldNum" sz="quarter" idx="12"/>
          </p:nvPr>
        </p:nvSpPr>
        <p:spPr/>
        <p:txBody>
          <a:bodyPr/>
          <a:lstStyle/>
          <a:p>
            <a:fld id="{70FE22E3-DC54-4EC1-B90C-A0E5B3CBF56C}" type="slidenum">
              <a:rPr lang="en-IN" smtClean="0"/>
              <a:t>‹#›</a:t>
            </a:fld>
            <a:endParaRPr lang="en-IN"/>
          </a:p>
        </p:txBody>
      </p:sp>
    </p:spTree>
    <p:extLst>
      <p:ext uri="{BB962C8B-B14F-4D97-AF65-F5344CB8AC3E}">
        <p14:creationId xmlns:p14="http://schemas.microsoft.com/office/powerpoint/2010/main" val="38870252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24DFB1-C47F-61C3-FAD5-3F7D3EC84E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6960548-61E2-97BD-10E7-90632976D5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37A148-9641-B469-85DA-64E5B2766E7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A82BB7-A36F-454C-9D72-7FF79240B2DB}" type="datetimeFigureOut">
              <a:rPr lang="en-IN" smtClean="0"/>
              <a:t>15-04-2026</a:t>
            </a:fld>
            <a:endParaRPr lang="en-IN"/>
          </a:p>
        </p:txBody>
      </p:sp>
      <p:sp>
        <p:nvSpPr>
          <p:cNvPr id="5" name="Footer Placeholder 4">
            <a:extLst>
              <a:ext uri="{FF2B5EF4-FFF2-40B4-BE49-F238E27FC236}">
                <a16:creationId xmlns:a16="http://schemas.microsoft.com/office/drawing/2014/main" id="{51BEF682-E4CE-9BF8-E65B-1D2BD645FE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D2EB04E-208B-195F-1572-1AE7BD0857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FE22E3-DC54-4EC1-B90C-A0E5B3CBF56C}" type="slidenum">
              <a:rPr lang="en-IN" smtClean="0"/>
              <a:t>‹#›</a:t>
            </a:fld>
            <a:endParaRPr lang="en-IN"/>
          </a:p>
        </p:txBody>
      </p:sp>
    </p:spTree>
    <p:extLst>
      <p:ext uri="{BB962C8B-B14F-4D97-AF65-F5344CB8AC3E}">
        <p14:creationId xmlns:p14="http://schemas.microsoft.com/office/powerpoint/2010/main" val="26297765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straitsresearch.com/report/chemical-mechanical-polishing-market" TargetMode="External"/><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hyperlink" Target="https://en.wikipedia.org/wiki/Chemical-mechanical_polishin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s://resources.pcb.cadence.com/blog/2020-cmp-process-flow-chemical-mechanical-processing-for-electronics" TargetMode="External"/><Relationship Id="rId3" Type="http://schemas.openxmlformats.org/officeDocument/2006/relationships/image" Target="../media/image7.jpeg"/><Relationship Id="rId7" Type="http://schemas.openxmlformats.org/officeDocument/2006/relationships/hyperlink" Target="https://www.horiba.com/int/semiconductor/process/chemical-mechanical-planarization-cmp/" TargetMode="Externa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hyperlink" Target="https://www.researchgate.net/figure/a-Diagram-of-the-CMP-process-for-a-silicon-wafer-and-b-the-three-body-polishing_fig1_377172018"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sciencedirect.com/science/chapter/edited-volume/abs/pii/B9780128217917000198" TargetMode="Externa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7.xml.rels><?xml version="1.0" encoding="UTF-8" standalone="yes"?>
<Relationships xmlns="http://schemas.openxmlformats.org/package/2006/relationships"><Relationship Id="rId2" Type="http://schemas.openxmlformats.org/officeDocument/2006/relationships/hyperlink" Target="https://www.semanticscholar.org/paper/Chemical-mechanical-planarization%3A-slurry-and-Krishnan-Nalaskowski/fa3731e1e44aa4d770c2f32a23271c1b4bc00238"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D10B9-403A-D0DE-8392-A611B5F6E9EC}"/>
              </a:ext>
            </a:extLst>
          </p:cNvPr>
          <p:cNvSpPr>
            <a:spLocks noGrp="1"/>
          </p:cNvSpPr>
          <p:nvPr>
            <p:ph type="ctrTitle"/>
          </p:nvPr>
        </p:nvSpPr>
        <p:spPr>
          <a:xfrm>
            <a:off x="1524000" y="521110"/>
            <a:ext cx="9144000" cy="3205316"/>
          </a:xfrm>
        </p:spPr>
        <p:txBody>
          <a:bodyPr>
            <a:normAutofit fontScale="90000"/>
          </a:bodyPr>
          <a:lstStyle/>
          <a:p>
            <a:r>
              <a:rPr lang="en-US" sz="3600" dirty="0"/>
              <a:t>BEVD305L-VLSI Technology</a:t>
            </a:r>
            <a:br>
              <a:rPr lang="en-US" sz="3600" dirty="0"/>
            </a:br>
            <a:r>
              <a:rPr lang="en-US" sz="3600" dirty="0"/>
              <a:t>Course Project</a:t>
            </a:r>
            <a:br>
              <a:rPr lang="en-IN" dirty="0"/>
            </a:br>
            <a:br>
              <a:rPr lang="en-US" sz="3600" dirty="0"/>
            </a:br>
            <a:r>
              <a:rPr lang="en-IN" sz="3600" dirty="0"/>
              <a:t>Project Title : Chemical Mechanical Polishing Planarization Study and to analyse surface flatness improvement.</a:t>
            </a:r>
            <a:br>
              <a:rPr lang="en-IN" sz="3600" dirty="0"/>
            </a:br>
            <a:br>
              <a:rPr lang="en-IN" sz="2400" dirty="0"/>
            </a:br>
            <a:r>
              <a:rPr lang="en-IN" sz="2400" b="1" dirty="0"/>
              <a:t> 			</a:t>
            </a:r>
            <a:endParaRPr lang="en-IN" sz="2400" dirty="0"/>
          </a:p>
        </p:txBody>
      </p:sp>
      <p:sp>
        <p:nvSpPr>
          <p:cNvPr id="4" name="TextBox 3">
            <a:extLst>
              <a:ext uri="{FF2B5EF4-FFF2-40B4-BE49-F238E27FC236}">
                <a16:creationId xmlns:a16="http://schemas.microsoft.com/office/drawing/2014/main" id="{0EF3B094-9C42-7A52-D5D1-C7AB02C27E46}"/>
              </a:ext>
            </a:extLst>
          </p:cNvPr>
          <p:cNvSpPr txBox="1"/>
          <p:nvPr/>
        </p:nvSpPr>
        <p:spPr>
          <a:xfrm>
            <a:off x="1307690" y="3647767"/>
            <a:ext cx="9281652" cy="2585323"/>
          </a:xfrm>
          <a:prstGeom prst="rect">
            <a:avLst/>
          </a:prstGeom>
          <a:noFill/>
        </p:spPr>
        <p:txBody>
          <a:bodyPr wrap="square" rtlCol="0">
            <a:spAutoFit/>
          </a:bodyPr>
          <a:lstStyle/>
          <a:p>
            <a:r>
              <a:rPr lang="en-IN" sz="2400" b="1" dirty="0"/>
              <a:t>Presented By :</a:t>
            </a:r>
          </a:p>
          <a:p>
            <a:r>
              <a:rPr lang="en-IN" sz="2400" dirty="0"/>
              <a:t>Jai B Shah (23BVD0056)</a:t>
            </a:r>
          </a:p>
          <a:p>
            <a:r>
              <a:rPr lang="en-IN" sz="2400" dirty="0" err="1"/>
              <a:t>Shivain</a:t>
            </a:r>
            <a:r>
              <a:rPr lang="en-IN" sz="2400" dirty="0"/>
              <a:t> Khera (23BVD0058)</a:t>
            </a:r>
          </a:p>
          <a:p>
            <a:endParaRPr lang="en-IN" dirty="0"/>
          </a:p>
          <a:p>
            <a:endParaRPr lang="en-IN" sz="2400" b="1" dirty="0"/>
          </a:p>
          <a:p>
            <a:r>
              <a:rPr lang="en-IN" sz="2400" b="1" dirty="0"/>
              <a:t>Faculty:</a:t>
            </a:r>
            <a:r>
              <a:rPr lang="en-IN" sz="2400" dirty="0"/>
              <a:t>	</a:t>
            </a:r>
            <a:r>
              <a:rPr lang="en-IN" dirty="0"/>
              <a:t>				</a:t>
            </a:r>
          </a:p>
          <a:p>
            <a:r>
              <a:rPr lang="en-IN" sz="2400" dirty="0"/>
              <a:t>Dr. Palla Penchalaiah</a:t>
            </a:r>
          </a:p>
        </p:txBody>
      </p:sp>
    </p:spTree>
    <p:extLst>
      <p:ext uri="{BB962C8B-B14F-4D97-AF65-F5344CB8AC3E}">
        <p14:creationId xmlns:p14="http://schemas.microsoft.com/office/powerpoint/2010/main" val="1728508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AF511-15DF-08DC-9DB3-B88A408A0D78}"/>
              </a:ext>
            </a:extLst>
          </p:cNvPr>
          <p:cNvSpPr>
            <a:spLocks noGrp="1"/>
          </p:cNvSpPr>
          <p:nvPr>
            <p:ph type="title"/>
          </p:nvPr>
        </p:nvSpPr>
        <p:spPr/>
        <p:txBody>
          <a:bodyPr/>
          <a:lstStyle/>
          <a:p>
            <a:r>
              <a:rPr lang="en-IN" dirty="0"/>
              <a:t>CMP using </a:t>
            </a:r>
            <a:r>
              <a:rPr lang="en-IN" dirty="0" err="1"/>
              <a:t>Sentaurus</a:t>
            </a:r>
            <a:r>
              <a:rPr lang="en-IN" dirty="0"/>
              <a:t> TCAD</a:t>
            </a:r>
          </a:p>
        </p:txBody>
      </p:sp>
      <p:sp>
        <p:nvSpPr>
          <p:cNvPr id="3" name="Content Placeholder 2">
            <a:extLst>
              <a:ext uri="{FF2B5EF4-FFF2-40B4-BE49-F238E27FC236}">
                <a16:creationId xmlns:a16="http://schemas.microsoft.com/office/drawing/2014/main" id="{AD89D85E-410E-7B67-128A-C286BD838CC4}"/>
              </a:ext>
            </a:extLst>
          </p:cNvPr>
          <p:cNvSpPr>
            <a:spLocks noGrp="1"/>
          </p:cNvSpPr>
          <p:nvPr>
            <p:ph idx="1"/>
          </p:nvPr>
        </p:nvSpPr>
        <p:spPr/>
        <p:txBody>
          <a:bodyPr>
            <a:normAutofit fontScale="77500" lnSpcReduction="20000"/>
          </a:bodyPr>
          <a:lstStyle/>
          <a:p>
            <a:pPr>
              <a:buFont typeface="Wingdings" panose="05000000000000000000" pitchFamily="2" charset="2"/>
              <a:buChar char="Ø"/>
            </a:pPr>
            <a:r>
              <a:rPr lang="en-IN" dirty="0">
                <a:solidFill>
                  <a:srgbClr val="FF0000"/>
                </a:solidFill>
              </a:rPr>
              <a:t>Introduction</a:t>
            </a:r>
          </a:p>
          <a:p>
            <a:pPr>
              <a:buFont typeface="Wingdings" panose="05000000000000000000" pitchFamily="2" charset="2"/>
              <a:buChar char="Ø"/>
            </a:pPr>
            <a:r>
              <a:rPr lang="en-IN" dirty="0">
                <a:solidFill>
                  <a:srgbClr val="FF0000"/>
                </a:solidFill>
              </a:rPr>
              <a:t>Motivation</a:t>
            </a:r>
          </a:p>
          <a:p>
            <a:pPr>
              <a:buFont typeface="Wingdings" panose="05000000000000000000" pitchFamily="2" charset="2"/>
              <a:buChar char="Ø"/>
            </a:pPr>
            <a:r>
              <a:rPr lang="en-IN" dirty="0">
                <a:solidFill>
                  <a:srgbClr val="FF0000"/>
                </a:solidFill>
              </a:rPr>
              <a:t>Applications of CMP Planarization</a:t>
            </a:r>
          </a:p>
          <a:p>
            <a:pPr>
              <a:buFont typeface="Wingdings" panose="05000000000000000000" pitchFamily="2" charset="2"/>
              <a:buChar char="Ø"/>
            </a:pPr>
            <a:r>
              <a:rPr lang="en-IN" dirty="0">
                <a:solidFill>
                  <a:srgbClr val="FF0000"/>
                </a:solidFill>
              </a:rPr>
              <a:t>Background</a:t>
            </a:r>
          </a:p>
          <a:p>
            <a:pPr>
              <a:buFont typeface="Wingdings" panose="05000000000000000000" pitchFamily="2" charset="2"/>
              <a:buChar char="Ø"/>
            </a:pPr>
            <a:r>
              <a:rPr lang="en-IN" dirty="0">
                <a:solidFill>
                  <a:srgbClr val="FF0000"/>
                </a:solidFill>
              </a:rPr>
              <a:t>Methodology</a:t>
            </a:r>
          </a:p>
          <a:p>
            <a:pPr>
              <a:buFont typeface="Wingdings" panose="05000000000000000000" pitchFamily="2" charset="2"/>
              <a:buChar char="Ø"/>
            </a:pPr>
            <a:r>
              <a:rPr lang="en-IN" dirty="0">
                <a:solidFill>
                  <a:srgbClr val="FF0000"/>
                </a:solidFill>
              </a:rPr>
              <a:t>Mechanism of Chemical Mechanical Polishing (CMP)</a:t>
            </a:r>
          </a:p>
          <a:p>
            <a:pPr>
              <a:buFont typeface="Wingdings" panose="05000000000000000000" pitchFamily="2" charset="2"/>
              <a:buChar char="Ø"/>
            </a:pPr>
            <a:r>
              <a:rPr lang="en-IN" dirty="0">
                <a:solidFill>
                  <a:srgbClr val="FF0000"/>
                </a:solidFill>
              </a:rPr>
              <a:t>Figure of Merit</a:t>
            </a:r>
          </a:p>
          <a:p>
            <a:pPr>
              <a:buFont typeface="Wingdings" panose="05000000000000000000" pitchFamily="2" charset="2"/>
              <a:buChar char="Ø"/>
            </a:pPr>
            <a:r>
              <a:rPr lang="en-IN" dirty="0">
                <a:solidFill>
                  <a:srgbClr val="FF0000"/>
                </a:solidFill>
              </a:rPr>
              <a:t>Simulation of 2D Chemical Mechanical Polishing (CMP) Planarization</a:t>
            </a:r>
          </a:p>
          <a:p>
            <a:pPr>
              <a:buFont typeface="Wingdings" panose="05000000000000000000" pitchFamily="2" charset="2"/>
              <a:buChar char="Ø"/>
            </a:pPr>
            <a:r>
              <a:rPr lang="en-IN" dirty="0">
                <a:solidFill>
                  <a:srgbClr val="FF0000"/>
                </a:solidFill>
              </a:rPr>
              <a:t>Limitations of current CMP models</a:t>
            </a:r>
          </a:p>
          <a:p>
            <a:pPr>
              <a:buFont typeface="Wingdings" panose="05000000000000000000" pitchFamily="2" charset="2"/>
              <a:buChar char="Ø"/>
            </a:pPr>
            <a:r>
              <a:rPr lang="en-IN" dirty="0">
                <a:solidFill>
                  <a:srgbClr val="FF0000"/>
                </a:solidFill>
              </a:rPr>
              <a:t>Future Scope</a:t>
            </a:r>
          </a:p>
          <a:p>
            <a:pPr>
              <a:buFont typeface="Wingdings" panose="05000000000000000000" pitchFamily="2" charset="2"/>
              <a:buChar char="Ø"/>
            </a:pPr>
            <a:r>
              <a:rPr lang="en-IN" dirty="0">
                <a:solidFill>
                  <a:srgbClr val="FF0000"/>
                </a:solidFill>
              </a:rPr>
              <a:t>Conclusion</a:t>
            </a:r>
          </a:p>
          <a:p>
            <a:pPr>
              <a:buFont typeface="Wingdings" panose="05000000000000000000" pitchFamily="2" charset="2"/>
              <a:buChar char="Ø"/>
            </a:pPr>
            <a:r>
              <a:rPr lang="en-IN" dirty="0">
                <a:solidFill>
                  <a:srgbClr val="FF0000"/>
                </a:solidFill>
              </a:rPr>
              <a:t>References</a:t>
            </a:r>
          </a:p>
          <a:p>
            <a:endParaRPr lang="en-IN" dirty="0">
              <a:solidFill>
                <a:srgbClr val="FF0000"/>
              </a:solidFill>
            </a:endParaRPr>
          </a:p>
          <a:p>
            <a:endParaRPr lang="en-IN" dirty="0">
              <a:solidFill>
                <a:srgbClr val="FF0000"/>
              </a:solidFill>
            </a:endParaRPr>
          </a:p>
          <a:p>
            <a:endParaRPr lang="en-IN" dirty="0">
              <a:solidFill>
                <a:srgbClr val="FF0000"/>
              </a:solidFill>
            </a:endParaRPr>
          </a:p>
          <a:p>
            <a:pPr marL="0" indent="0">
              <a:buNone/>
            </a:pPr>
            <a:endParaRPr lang="en-IN" dirty="0">
              <a:solidFill>
                <a:srgbClr val="FF0000"/>
              </a:solidFill>
            </a:endParaRPr>
          </a:p>
          <a:p>
            <a:endParaRPr lang="en-IN" dirty="0">
              <a:solidFill>
                <a:srgbClr val="FF0000"/>
              </a:solidFill>
            </a:endParaRPr>
          </a:p>
        </p:txBody>
      </p:sp>
    </p:spTree>
    <p:extLst>
      <p:ext uri="{BB962C8B-B14F-4D97-AF65-F5344CB8AC3E}">
        <p14:creationId xmlns:p14="http://schemas.microsoft.com/office/powerpoint/2010/main" val="4757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ED047-355F-551B-6E8B-B0606C908025}"/>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F193980A-6037-4C76-1052-943843BBC265}"/>
              </a:ext>
            </a:extLst>
          </p:cNvPr>
          <p:cNvSpPr>
            <a:spLocks noGrp="1"/>
          </p:cNvSpPr>
          <p:nvPr>
            <p:ph idx="1"/>
          </p:nvPr>
        </p:nvSpPr>
        <p:spPr>
          <a:xfrm>
            <a:off x="838200" y="1298268"/>
            <a:ext cx="5719916" cy="5194607"/>
          </a:xfrm>
        </p:spPr>
        <p:txBody>
          <a:bodyPr>
            <a:normAutofit fontScale="62500" lnSpcReduction="20000"/>
          </a:bodyPr>
          <a:lstStyle/>
          <a:p>
            <a:pPr marL="0" indent="0">
              <a:buNone/>
            </a:pPr>
            <a:r>
              <a:rPr lang="en-IN" dirty="0"/>
              <a:t>Chemical Mechanical Polishing (CMP) is a critical planarization technique employed in modern semiconductor manufacturing to achieve global and local surface flatness across multiple interconnect and device layers. As device dimensions continue to scale into the </a:t>
            </a:r>
            <a:r>
              <a:rPr lang="en-IN" dirty="0" err="1"/>
              <a:t>nanometer</a:t>
            </a:r>
            <a:r>
              <a:rPr lang="en-IN" dirty="0"/>
              <a:t> regime, surface non-uniformities such as topography variation, dishing, and erosion significantly impact lithographic accuracy and device reliability. This project presents a detailed CMP planarization study using </a:t>
            </a:r>
            <a:r>
              <a:rPr lang="en-IN" dirty="0" err="1"/>
              <a:t>Sentaurus</a:t>
            </a:r>
            <a:r>
              <a:rPr lang="en-IN" dirty="0"/>
              <a:t> TCAD, with a primary focus on </a:t>
            </a:r>
            <a:r>
              <a:rPr lang="en-IN" dirty="0" err="1"/>
              <a:t>analyzing</a:t>
            </a:r>
            <a:r>
              <a:rPr lang="en-IN" dirty="0"/>
              <a:t> surface flatness improvement through </a:t>
            </a:r>
            <a:r>
              <a:rPr lang="en-IN" dirty="0" err="1"/>
              <a:t>Sentaurus</a:t>
            </a:r>
            <a:r>
              <a:rPr lang="en-IN" dirty="0"/>
              <a:t> </a:t>
            </a:r>
            <a:r>
              <a:rPr lang="en-IN" dirty="0" err="1"/>
              <a:t>SProcess</a:t>
            </a:r>
            <a:r>
              <a:rPr lang="en-IN" dirty="0"/>
              <a:t> simulations. The CMP process is </a:t>
            </a:r>
            <a:r>
              <a:rPr lang="en-IN" dirty="0" err="1"/>
              <a:t>modeled</a:t>
            </a:r>
            <a:r>
              <a:rPr lang="en-IN" dirty="0"/>
              <a:t> by incorporating material removal mechanisms influenced by mechanical pressure and chemical reactions. Surface profiles before and after CMP are </a:t>
            </a:r>
            <a:r>
              <a:rPr lang="en-IN" dirty="0" err="1"/>
              <a:t>analyzed</a:t>
            </a:r>
            <a:r>
              <a:rPr lang="en-IN" dirty="0"/>
              <a:t> to quantify planarization efficiency. Key metrics such as step height reduction, surface roughness, and planarization length are evaluated under varying process conditions. The results demonstrate the effectiveness of CMP in achieving uniform surfaces and highlight the impact of process parameters on planarization performance. This study provides insight into CMP optimization strategies for advanced semiconductor fabrication.</a:t>
            </a:r>
          </a:p>
          <a:p>
            <a:endParaRPr lang="en-IN" dirty="0"/>
          </a:p>
          <a:p>
            <a:endParaRPr lang="en-IN" dirty="0"/>
          </a:p>
        </p:txBody>
      </p:sp>
      <p:pic>
        <p:nvPicPr>
          <p:cNvPr id="4" name="Picture 3">
            <a:extLst>
              <a:ext uri="{FF2B5EF4-FFF2-40B4-BE49-F238E27FC236}">
                <a16:creationId xmlns:a16="http://schemas.microsoft.com/office/drawing/2014/main" id="{2FA11EEE-8A1E-9F1A-D2D3-DFF44B5EAB75}"/>
              </a:ext>
            </a:extLst>
          </p:cNvPr>
          <p:cNvPicPr>
            <a:picLocks noChangeAspect="1"/>
          </p:cNvPicPr>
          <p:nvPr/>
        </p:nvPicPr>
        <p:blipFill>
          <a:blip r:embed="rId2"/>
          <a:stretch>
            <a:fillRect/>
          </a:stretch>
        </p:blipFill>
        <p:spPr>
          <a:xfrm>
            <a:off x="6618826" y="1944687"/>
            <a:ext cx="5573174" cy="2968625"/>
          </a:xfrm>
          <a:prstGeom prst="rect">
            <a:avLst/>
          </a:prstGeom>
        </p:spPr>
      </p:pic>
      <p:sp>
        <p:nvSpPr>
          <p:cNvPr id="5" name="TextBox 4">
            <a:extLst>
              <a:ext uri="{FF2B5EF4-FFF2-40B4-BE49-F238E27FC236}">
                <a16:creationId xmlns:a16="http://schemas.microsoft.com/office/drawing/2014/main" id="{35BBEEF9-C1A0-DFB0-AA0D-F9312AADF26A}"/>
              </a:ext>
            </a:extLst>
          </p:cNvPr>
          <p:cNvSpPr txBox="1"/>
          <p:nvPr/>
        </p:nvSpPr>
        <p:spPr>
          <a:xfrm>
            <a:off x="973394" y="6211669"/>
            <a:ext cx="9901083" cy="646331"/>
          </a:xfrm>
          <a:prstGeom prst="rect">
            <a:avLst/>
          </a:prstGeom>
          <a:noFill/>
        </p:spPr>
        <p:txBody>
          <a:bodyPr wrap="square" rtlCol="0">
            <a:spAutoFit/>
          </a:bodyPr>
          <a:lstStyle/>
          <a:p>
            <a:r>
              <a:rPr lang="en-IN" dirty="0">
                <a:solidFill>
                  <a:srgbClr val="FF0000"/>
                </a:solidFill>
              </a:rPr>
              <a:t>D. Müller, S. Park, I. González, P. Nowak, J. Chen, and A. </a:t>
            </a:r>
            <a:r>
              <a:rPr lang="en-IN" dirty="0" err="1">
                <a:solidFill>
                  <a:srgbClr val="FF0000"/>
                </a:solidFill>
              </a:rPr>
              <a:t>Rahman,“Nanoparticles</a:t>
            </a:r>
            <a:r>
              <a:rPr lang="en-IN" dirty="0">
                <a:solidFill>
                  <a:srgbClr val="FF0000"/>
                </a:solidFill>
              </a:rPr>
              <a:t> for chemical mechanical planarization: A review,” Nanomaterials, vol. 15, no. 17, 2025.</a:t>
            </a:r>
          </a:p>
        </p:txBody>
      </p:sp>
      <p:sp>
        <p:nvSpPr>
          <p:cNvPr id="6" name="TextBox 5">
            <a:extLst>
              <a:ext uri="{FF2B5EF4-FFF2-40B4-BE49-F238E27FC236}">
                <a16:creationId xmlns:a16="http://schemas.microsoft.com/office/drawing/2014/main" id="{2CF677A0-9FAF-AA91-2A28-E62D34D32F98}"/>
              </a:ext>
            </a:extLst>
          </p:cNvPr>
          <p:cNvSpPr txBox="1"/>
          <p:nvPr/>
        </p:nvSpPr>
        <p:spPr>
          <a:xfrm>
            <a:off x="7403690" y="5161935"/>
            <a:ext cx="4424516" cy="369332"/>
          </a:xfrm>
          <a:prstGeom prst="rect">
            <a:avLst/>
          </a:prstGeom>
          <a:noFill/>
        </p:spPr>
        <p:txBody>
          <a:bodyPr wrap="square" rtlCol="0">
            <a:spAutoFit/>
          </a:bodyPr>
          <a:lstStyle/>
          <a:p>
            <a:r>
              <a:rPr lang="en-IN" dirty="0"/>
              <a:t>Diagram of Chemical Mechanical Polishing</a:t>
            </a:r>
          </a:p>
        </p:txBody>
      </p:sp>
    </p:spTree>
    <p:extLst>
      <p:ext uri="{BB962C8B-B14F-4D97-AF65-F5344CB8AC3E}">
        <p14:creationId xmlns:p14="http://schemas.microsoft.com/office/powerpoint/2010/main" val="2125949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D419E-6D2A-D541-9B95-42A92BEE594A}"/>
              </a:ext>
            </a:extLst>
          </p:cNvPr>
          <p:cNvSpPr>
            <a:spLocks noGrp="1"/>
          </p:cNvSpPr>
          <p:nvPr>
            <p:ph type="title"/>
          </p:nvPr>
        </p:nvSpPr>
        <p:spPr/>
        <p:txBody>
          <a:bodyPr/>
          <a:lstStyle/>
          <a:p>
            <a:r>
              <a:rPr lang="en-IN" dirty="0"/>
              <a:t>Motivation</a:t>
            </a:r>
          </a:p>
        </p:txBody>
      </p:sp>
      <p:sp>
        <p:nvSpPr>
          <p:cNvPr id="3" name="Content Placeholder 2">
            <a:extLst>
              <a:ext uri="{FF2B5EF4-FFF2-40B4-BE49-F238E27FC236}">
                <a16:creationId xmlns:a16="http://schemas.microsoft.com/office/drawing/2014/main" id="{01D35030-C871-496A-0352-51787F21EECE}"/>
              </a:ext>
            </a:extLst>
          </p:cNvPr>
          <p:cNvSpPr>
            <a:spLocks noGrp="1"/>
          </p:cNvSpPr>
          <p:nvPr>
            <p:ph idx="1"/>
          </p:nvPr>
        </p:nvSpPr>
        <p:spPr>
          <a:xfrm>
            <a:off x="317091" y="1435510"/>
            <a:ext cx="6201696" cy="5702710"/>
          </a:xfrm>
        </p:spPr>
        <p:txBody>
          <a:bodyPr>
            <a:normAutofit fontScale="62500" lnSpcReduction="20000"/>
          </a:bodyPr>
          <a:lstStyle/>
          <a:p>
            <a:pPr marL="0" indent="0">
              <a:buNone/>
            </a:pPr>
            <a:br>
              <a:rPr lang="en-IN" dirty="0"/>
            </a:br>
            <a:r>
              <a:rPr lang="en-IN" sz="2900" dirty="0"/>
              <a:t>Chemical Mechanical Polishing (CMP) is a critical planarization technique employed in modern semiconductor manufacturing to achieve global and local surface flatness across multiple interconnect and device layers. As device dimensions continue to scale into the </a:t>
            </a:r>
            <a:r>
              <a:rPr lang="en-IN" sz="2900" dirty="0" err="1"/>
              <a:t>nanometer</a:t>
            </a:r>
            <a:r>
              <a:rPr lang="en-IN" sz="2900" dirty="0"/>
              <a:t> regime, surface non-uniformities such as topography variation, dishing, and erosion significantly impact lithographic accuracy and device reliability. This project presents a detailed CMP planarization study using </a:t>
            </a:r>
            <a:r>
              <a:rPr lang="en-IN" sz="2900" b="1" dirty="0" err="1"/>
              <a:t>Sentaurus</a:t>
            </a:r>
            <a:r>
              <a:rPr lang="en-IN" sz="2900" b="1" dirty="0"/>
              <a:t> TCAD</a:t>
            </a:r>
            <a:r>
              <a:rPr lang="en-IN" sz="2900" dirty="0"/>
              <a:t>, with a primary focus on </a:t>
            </a:r>
            <a:r>
              <a:rPr lang="en-IN" sz="2900" dirty="0" err="1"/>
              <a:t>analyzing</a:t>
            </a:r>
            <a:r>
              <a:rPr lang="en-IN" sz="2900" dirty="0"/>
              <a:t> surface flatness improvement through </a:t>
            </a:r>
            <a:r>
              <a:rPr lang="en-IN" sz="2900" b="1" dirty="0" err="1"/>
              <a:t>Sentaurus</a:t>
            </a:r>
            <a:r>
              <a:rPr lang="en-IN" sz="2900" b="1" dirty="0"/>
              <a:t> </a:t>
            </a:r>
            <a:r>
              <a:rPr lang="en-IN" sz="2900" b="1" dirty="0" err="1"/>
              <a:t>SProcess</a:t>
            </a:r>
            <a:r>
              <a:rPr lang="en-IN" sz="2900" dirty="0"/>
              <a:t> simulations. The CMP process is </a:t>
            </a:r>
            <a:r>
              <a:rPr lang="en-IN" sz="2900" dirty="0" err="1"/>
              <a:t>modeled</a:t>
            </a:r>
            <a:r>
              <a:rPr lang="en-IN" sz="2900" dirty="0"/>
              <a:t> by incorporating material removal mechanisms influenced by mechanical pressure and chemical reactions. Surface profiles before and after CMP are </a:t>
            </a:r>
            <a:r>
              <a:rPr lang="en-IN" sz="2900" dirty="0" err="1"/>
              <a:t>analyzed</a:t>
            </a:r>
            <a:r>
              <a:rPr lang="en-IN" sz="2900" dirty="0"/>
              <a:t> to quantify planarization efficiency. Key metrics such as step height reduction, surface roughness, and planarization length are evaluated under varying process conditions. The results demonstrate the effectiveness of CMP in achieving uniform surfaces and highlight the impact of process parameters on planarization performance. This study provides insight into CMP optimization strategies for advanced semiconductor fabrication.</a:t>
            </a:r>
            <a:br>
              <a:rPr lang="en-IN" sz="2900" dirty="0"/>
            </a:br>
            <a:endParaRPr lang="en-US" sz="2900" dirty="0"/>
          </a:p>
          <a:p>
            <a:endParaRPr lang="en-IN" dirty="0"/>
          </a:p>
        </p:txBody>
      </p:sp>
      <p:pic>
        <p:nvPicPr>
          <p:cNvPr id="5" name="Picture 4">
            <a:extLst>
              <a:ext uri="{FF2B5EF4-FFF2-40B4-BE49-F238E27FC236}">
                <a16:creationId xmlns:a16="http://schemas.microsoft.com/office/drawing/2014/main" id="{7262B8CD-5DC2-BB5F-C7A1-16E927717696}"/>
              </a:ext>
            </a:extLst>
          </p:cNvPr>
          <p:cNvPicPr>
            <a:picLocks noChangeAspect="1"/>
          </p:cNvPicPr>
          <p:nvPr/>
        </p:nvPicPr>
        <p:blipFill>
          <a:blip r:embed="rId2"/>
          <a:stretch>
            <a:fillRect/>
          </a:stretch>
        </p:blipFill>
        <p:spPr>
          <a:xfrm>
            <a:off x="6710875" y="1027906"/>
            <a:ext cx="5269256" cy="3635378"/>
          </a:xfrm>
          <a:prstGeom prst="rect">
            <a:avLst/>
          </a:prstGeom>
        </p:spPr>
      </p:pic>
      <p:sp>
        <p:nvSpPr>
          <p:cNvPr id="6" name="TextBox 5">
            <a:extLst>
              <a:ext uri="{FF2B5EF4-FFF2-40B4-BE49-F238E27FC236}">
                <a16:creationId xmlns:a16="http://schemas.microsoft.com/office/drawing/2014/main" id="{8FE80436-9CCB-5AA5-533C-D630F6AA17A6}"/>
              </a:ext>
            </a:extLst>
          </p:cNvPr>
          <p:cNvSpPr txBox="1"/>
          <p:nvPr/>
        </p:nvSpPr>
        <p:spPr>
          <a:xfrm>
            <a:off x="317091" y="6155908"/>
            <a:ext cx="10859254" cy="646331"/>
          </a:xfrm>
          <a:prstGeom prst="rect">
            <a:avLst/>
          </a:prstGeom>
          <a:noFill/>
        </p:spPr>
        <p:txBody>
          <a:bodyPr wrap="square" rtlCol="0">
            <a:spAutoFit/>
          </a:bodyPr>
          <a:lstStyle/>
          <a:p>
            <a:r>
              <a:rPr lang="en-IN" dirty="0">
                <a:solidFill>
                  <a:srgbClr val="FF0000"/>
                </a:solidFill>
              </a:rPr>
              <a:t>R. Srinivasan, Y. Nakamura, C. Dupont, A. Kovalenko, F. Bianchi, and E. </a:t>
            </a:r>
            <a:r>
              <a:rPr lang="en-IN" dirty="0" err="1">
                <a:solidFill>
                  <a:srgbClr val="FF0000"/>
                </a:solidFill>
              </a:rPr>
              <a:t>Morales,“Nanoparticles</a:t>
            </a:r>
            <a:r>
              <a:rPr lang="en-IN" dirty="0">
                <a:solidFill>
                  <a:srgbClr val="FF0000"/>
                </a:solidFill>
              </a:rPr>
              <a:t> for chemical mechanical planarization: A review,” Nanomaterials, vol. 15, no. 17, 2025.</a:t>
            </a:r>
          </a:p>
        </p:txBody>
      </p:sp>
      <p:sp>
        <p:nvSpPr>
          <p:cNvPr id="7" name="TextBox 6">
            <a:extLst>
              <a:ext uri="{FF2B5EF4-FFF2-40B4-BE49-F238E27FC236}">
                <a16:creationId xmlns:a16="http://schemas.microsoft.com/office/drawing/2014/main" id="{B2340C34-3236-EAFF-A5B9-FF22CBD70F42}"/>
              </a:ext>
            </a:extLst>
          </p:cNvPr>
          <p:cNvSpPr txBox="1"/>
          <p:nvPr/>
        </p:nvSpPr>
        <p:spPr>
          <a:xfrm>
            <a:off x="7551174" y="4623858"/>
            <a:ext cx="5447071" cy="646331"/>
          </a:xfrm>
          <a:prstGeom prst="rect">
            <a:avLst/>
          </a:prstGeom>
          <a:noFill/>
        </p:spPr>
        <p:txBody>
          <a:bodyPr wrap="square" rtlCol="0">
            <a:spAutoFit/>
          </a:bodyPr>
          <a:lstStyle/>
          <a:p>
            <a:r>
              <a:rPr lang="en-US" dirty="0"/>
              <a:t>The schematic diagram of the CMP process</a:t>
            </a:r>
          </a:p>
          <a:p>
            <a:endParaRPr lang="en-IN" dirty="0"/>
          </a:p>
        </p:txBody>
      </p:sp>
    </p:spTree>
    <p:extLst>
      <p:ext uri="{BB962C8B-B14F-4D97-AF65-F5344CB8AC3E}">
        <p14:creationId xmlns:p14="http://schemas.microsoft.com/office/powerpoint/2010/main" val="1457060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94DA5-5595-5C86-2CF4-2EC5613DFDB5}"/>
              </a:ext>
            </a:extLst>
          </p:cNvPr>
          <p:cNvSpPr>
            <a:spLocks noGrp="1"/>
          </p:cNvSpPr>
          <p:nvPr>
            <p:ph type="title"/>
          </p:nvPr>
        </p:nvSpPr>
        <p:spPr/>
        <p:txBody>
          <a:bodyPr/>
          <a:lstStyle/>
          <a:p>
            <a:r>
              <a:rPr lang="en-IN"/>
              <a:t>Applications of CMP Planarization</a:t>
            </a:r>
            <a:br>
              <a:rPr lang="en-IN"/>
            </a:br>
            <a:endParaRPr lang="en-IN" dirty="0"/>
          </a:p>
        </p:txBody>
      </p:sp>
      <p:pic>
        <p:nvPicPr>
          <p:cNvPr id="5" name="Content Placeholder 4">
            <a:extLst>
              <a:ext uri="{FF2B5EF4-FFF2-40B4-BE49-F238E27FC236}">
                <a16:creationId xmlns:a16="http://schemas.microsoft.com/office/drawing/2014/main" id="{5F7990B6-E74E-FE99-7E1B-ABD10DB67D91}"/>
              </a:ext>
            </a:extLst>
          </p:cNvPr>
          <p:cNvPicPr>
            <a:picLocks noGrp="1" noChangeAspect="1"/>
          </p:cNvPicPr>
          <p:nvPr>
            <p:ph idx="1"/>
          </p:nvPr>
        </p:nvPicPr>
        <p:blipFill>
          <a:blip r:embed="rId2"/>
          <a:stretch>
            <a:fillRect/>
          </a:stretch>
        </p:blipFill>
        <p:spPr>
          <a:xfrm>
            <a:off x="1191353" y="4035855"/>
            <a:ext cx="5406013" cy="2286198"/>
          </a:xfrm>
          <a:prstGeom prst="rect">
            <a:avLst/>
          </a:prstGeom>
        </p:spPr>
      </p:pic>
      <p:sp>
        <p:nvSpPr>
          <p:cNvPr id="6" name="TextBox 5">
            <a:extLst>
              <a:ext uri="{FF2B5EF4-FFF2-40B4-BE49-F238E27FC236}">
                <a16:creationId xmlns:a16="http://schemas.microsoft.com/office/drawing/2014/main" id="{C10586C0-EC43-88A9-1D06-624DCF1B3E57}"/>
              </a:ext>
            </a:extLst>
          </p:cNvPr>
          <p:cNvSpPr txBox="1"/>
          <p:nvPr/>
        </p:nvSpPr>
        <p:spPr>
          <a:xfrm>
            <a:off x="1995947" y="6440129"/>
            <a:ext cx="8826127" cy="369332"/>
          </a:xfrm>
          <a:prstGeom prst="rect">
            <a:avLst/>
          </a:prstGeom>
          <a:noFill/>
        </p:spPr>
        <p:txBody>
          <a:bodyPr wrap="square" rtlCol="0">
            <a:spAutoFit/>
          </a:bodyPr>
          <a:lstStyle/>
          <a:p>
            <a:r>
              <a:rPr lang="en-IN" dirty="0">
                <a:hlinkClick r:id="rId3"/>
              </a:rPr>
              <a:t>https://straitsresearch.com/report/chemical-mechanical-polishing-market</a:t>
            </a:r>
            <a:endParaRPr lang="en-IN" dirty="0"/>
          </a:p>
        </p:txBody>
      </p:sp>
      <p:pic>
        <p:nvPicPr>
          <p:cNvPr id="10" name="Picture 9">
            <a:extLst>
              <a:ext uri="{FF2B5EF4-FFF2-40B4-BE49-F238E27FC236}">
                <a16:creationId xmlns:a16="http://schemas.microsoft.com/office/drawing/2014/main" id="{7C375B75-1208-1CAF-E499-25710C542E46}"/>
              </a:ext>
            </a:extLst>
          </p:cNvPr>
          <p:cNvPicPr>
            <a:picLocks noChangeAspect="1"/>
          </p:cNvPicPr>
          <p:nvPr/>
        </p:nvPicPr>
        <p:blipFill>
          <a:blip r:embed="rId4"/>
          <a:stretch>
            <a:fillRect/>
          </a:stretch>
        </p:blipFill>
        <p:spPr>
          <a:xfrm>
            <a:off x="1501604" y="1027906"/>
            <a:ext cx="5095762" cy="2739026"/>
          </a:xfrm>
          <a:prstGeom prst="rect">
            <a:avLst/>
          </a:prstGeom>
        </p:spPr>
      </p:pic>
      <p:pic>
        <p:nvPicPr>
          <p:cNvPr id="12" name="Picture 11">
            <a:extLst>
              <a:ext uri="{FF2B5EF4-FFF2-40B4-BE49-F238E27FC236}">
                <a16:creationId xmlns:a16="http://schemas.microsoft.com/office/drawing/2014/main" id="{A29B3A6B-5FF1-14C9-E881-5F4BBB8A72DC}"/>
              </a:ext>
            </a:extLst>
          </p:cNvPr>
          <p:cNvPicPr>
            <a:picLocks noChangeAspect="1"/>
          </p:cNvPicPr>
          <p:nvPr/>
        </p:nvPicPr>
        <p:blipFill>
          <a:blip r:embed="rId5"/>
          <a:stretch>
            <a:fillRect/>
          </a:stretch>
        </p:blipFill>
        <p:spPr>
          <a:xfrm>
            <a:off x="8038637" y="1027906"/>
            <a:ext cx="3315163" cy="5061395"/>
          </a:xfrm>
          <a:prstGeom prst="rect">
            <a:avLst/>
          </a:prstGeom>
        </p:spPr>
      </p:pic>
    </p:spTree>
    <p:extLst>
      <p:ext uri="{BB962C8B-B14F-4D97-AF65-F5344CB8AC3E}">
        <p14:creationId xmlns:p14="http://schemas.microsoft.com/office/powerpoint/2010/main" val="3297764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031D8-B70C-FD59-EF46-EFDF3EB23D60}"/>
              </a:ext>
            </a:extLst>
          </p:cNvPr>
          <p:cNvSpPr>
            <a:spLocks noGrp="1"/>
          </p:cNvSpPr>
          <p:nvPr>
            <p:ph type="title"/>
          </p:nvPr>
        </p:nvSpPr>
        <p:spPr>
          <a:xfrm>
            <a:off x="474407" y="0"/>
            <a:ext cx="10515600" cy="1325563"/>
          </a:xfrm>
        </p:spPr>
        <p:txBody>
          <a:bodyPr/>
          <a:lstStyle/>
          <a:p>
            <a:r>
              <a:rPr lang="en-IN" dirty="0"/>
              <a:t>   Background</a:t>
            </a:r>
          </a:p>
        </p:txBody>
      </p:sp>
      <p:sp>
        <p:nvSpPr>
          <p:cNvPr id="3" name="Content Placeholder 2">
            <a:extLst>
              <a:ext uri="{FF2B5EF4-FFF2-40B4-BE49-F238E27FC236}">
                <a16:creationId xmlns:a16="http://schemas.microsoft.com/office/drawing/2014/main" id="{CC1D73EF-5BDF-1D59-4DE7-FB822CF86DD6}"/>
              </a:ext>
            </a:extLst>
          </p:cNvPr>
          <p:cNvSpPr>
            <a:spLocks noGrp="1"/>
          </p:cNvSpPr>
          <p:nvPr>
            <p:ph idx="1"/>
          </p:nvPr>
        </p:nvSpPr>
        <p:spPr>
          <a:xfrm>
            <a:off x="907026" y="1294274"/>
            <a:ext cx="9650361" cy="4947931"/>
          </a:xfrm>
        </p:spPr>
        <p:txBody>
          <a:bodyPr>
            <a:normAutofit/>
          </a:bodyPr>
          <a:lstStyle/>
          <a:p>
            <a:pPr marL="0" indent="0">
              <a:buNone/>
            </a:pPr>
            <a:r>
              <a:rPr lang="en-US" sz="2000" dirty="0"/>
              <a:t>Chemical Mechanical Planarization (CMP) is a </a:t>
            </a:r>
            <a:r>
              <a:rPr lang="en-US" sz="2000" b="1" dirty="0"/>
              <a:t>critical surface planarization technique</a:t>
            </a:r>
            <a:r>
              <a:rPr lang="en-US" sz="2000" dirty="0"/>
              <a:t> used in modern </a:t>
            </a:r>
            <a:r>
              <a:rPr lang="en-US" sz="2000" b="1" dirty="0"/>
              <a:t>VLSI and ULSI fabrication</a:t>
            </a:r>
            <a:r>
              <a:rPr lang="en-US" sz="2000" dirty="0"/>
              <a:t> to achieve a globally flat wafer surface before subsequent lithography steps. As device dimensions scaled down and multilevel interconnects became common, surface topography variations caused severe focus and alignment issues during photolithography. CMP overcomes this by combining </a:t>
            </a:r>
            <a:r>
              <a:rPr lang="en-US" sz="2000" b="1" dirty="0"/>
              <a:t>chemical reactions</a:t>
            </a:r>
            <a:r>
              <a:rPr lang="en-US" sz="2000" dirty="0"/>
              <a:t> at the wafer surface with </a:t>
            </a:r>
            <a:r>
              <a:rPr lang="en-US" sz="2000" b="1" dirty="0"/>
              <a:t>mechanical abrasion</a:t>
            </a:r>
            <a:r>
              <a:rPr lang="en-US" sz="2000" dirty="0"/>
              <a:t> from a polishing pad and slurry, enabling uniform material removal across the wafer. It is extensively used for </a:t>
            </a:r>
            <a:r>
              <a:rPr lang="en-US" sz="2000" b="1" dirty="0"/>
              <a:t>shallow trench isolation (STI)</a:t>
            </a:r>
            <a:r>
              <a:rPr lang="en-US" sz="2000" dirty="0"/>
              <a:t>, </a:t>
            </a:r>
            <a:r>
              <a:rPr lang="en-US" sz="2000" b="1" dirty="0"/>
              <a:t>interlayer dielectric (ILD) planarization</a:t>
            </a:r>
            <a:r>
              <a:rPr lang="en-US" sz="2000" dirty="0"/>
              <a:t>, and </a:t>
            </a:r>
            <a:r>
              <a:rPr lang="en-US" sz="2000" b="1" dirty="0"/>
              <a:t>copper damascene processes</a:t>
            </a:r>
            <a:r>
              <a:rPr lang="en-US" sz="2000" dirty="0"/>
              <a:t>, making it indispensable for advanced CMOS technology nodes.</a:t>
            </a:r>
          </a:p>
          <a:p>
            <a:pPr marL="0" indent="0">
              <a:buNone/>
            </a:pPr>
            <a:endParaRPr lang="en-US" sz="2000" dirty="0"/>
          </a:p>
          <a:p>
            <a:pPr marL="0" indent="0">
              <a:buNone/>
            </a:pPr>
            <a:endParaRPr lang="en-US" sz="2000" dirty="0"/>
          </a:p>
          <a:p>
            <a:pPr marL="0" indent="0">
              <a:buNone/>
            </a:pPr>
            <a:endParaRPr lang="en-US" sz="2000" dirty="0">
              <a:hlinkClick r:id="rId2"/>
            </a:endParaRPr>
          </a:p>
          <a:p>
            <a:pPr marL="0" indent="0">
              <a:buNone/>
            </a:pPr>
            <a:endParaRPr lang="en-US" sz="2000" dirty="0">
              <a:hlinkClick r:id="rId2"/>
            </a:endParaRPr>
          </a:p>
          <a:p>
            <a:pPr marL="0" indent="0">
              <a:buNone/>
            </a:pPr>
            <a:r>
              <a:rPr lang="en-US" sz="2000" dirty="0">
                <a:hlinkClick r:id="rId2"/>
              </a:rPr>
              <a:t>https://en.wikipedia.org/wiki/Chemical-mechanical_polishing</a:t>
            </a:r>
            <a:endParaRPr lang="en-US" sz="2000" dirty="0"/>
          </a:p>
          <a:p>
            <a:pPr marL="0" indent="0">
              <a:buNone/>
            </a:pPr>
            <a:endParaRPr lang="en-IN" sz="2000" dirty="0"/>
          </a:p>
        </p:txBody>
      </p:sp>
    </p:spTree>
    <p:extLst>
      <p:ext uri="{BB962C8B-B14F-4D97-AF65-F5344CB8AC3E}">
        <p14:creationId xmlns:p14="http://schemas.microsoft.com/office/powerpoint/2010/main" val="1530577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3782D46C-CE3E-5DA5-3D8D-54490A7F3E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532562" y="305281"/>
            <a:ext cx="3459981" cy="192605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D8D1CC78-B913-699F-6FAA-12E7432B730E}"/>
              </a:ext>
            </a:extLst>
          </p:cNvPr>
          <p:cNvSpPr txBox="1"/>
          <p:nvPr/>
        </p:nvSpPr>
        <p:spPr>
          <a:xfrm>
            <a:off x="643095" y="2451798"/>
            <a:ext cx="3459981" cy="369332"/>
          </a:xfrm>
          <a:prstGeom prst="rect">
            <a:avLst/>
          </a:prstGeom>
          <a:noFill/>
        </p:spPr>
        <p:txBody>
          <a:bodyPr wrap="square" rtlCol="0">
            <a:spAutoFit/>
          </a:bodyPr>
          <a:lstStyle/>
          <a:p>
            <a:r>
              <a:rPr lang="en-US" dirty="0"/>
              <a:t>1980s – Birth of CMP (IBM Era)</a:t>
            </a:r>
            <a:endParaRPr lang="en-IN" dirty="0"/>
          </a:p>
        </p:txBody>
      </p:sp>
      <p:pic>
        <p:nvPicPr>
          <p:cNvPr id="10" name="Picture 9">
            <a:extLst>
              <a:ext uri="{FF2B5EF4-FFF2-40B4-BE49-F238E27FC236}">
                <a16:creationId xmlns:a16="http://schemas.microsoft.com/office/drawing/2014/main" id="{1B7ECE64-4287-520F-9367-2B1CBFDAD5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9731" y="394222"/>
            <a:ext cx="3439728" cy="1798267"/>
          </a:xfrm>
          <a:prstGeom prst="rect">
            <a:avLst/>
          </a:prstGeom>
        </p:spPr>
      </p:pic>
      <p:sp>
        <p:nvSpPr>
          <p:cNvPr id="11" name="TextBox 10">
            <a:extLst>
              <a:ext uri="{FF2B5EF4-FFF2-40B4-BE49-F238E27FC236}">
                <a16:creationId xmlns:a16="http://schemas.microsoft.com/office/drawing/2014/main" id="{4490FBA3-3418-DF64-B162-3F8053EBF131}"/>
              </a:ext>
            </a:extLst>
          </p:cNvPr>
          <p:cNvSpPr txBox="1"/>
          <p:nvPr/>
        </p:nvSpPr>
        <p:spPr>
          <a:xfrm>
            <a:off x="5134710" y="2451798"/>
            <a:ext cx="2954216" cy="369332"/>
          </a:xfrm>
          <a:prstGeom prst="rect">
            <a:avLst/>
          </a:prstGeom>
          <a:noFill/>
        </p:spPr>
        <p:txBody>
          <a:bodyPr wrap="square" rtlCol="0">
            <a:spAutoFit/>
          </a:bodyPr>
          <a:lstStyle/>
          <a:p>
            <a:r>
              <a:rPr lang="en-IN" dirty="0"/>
              <a:t>1990s – Industrial Adoption</a:t>
            </a:r>
          </a:p>
        </p:txBody>
      </p:sp>
      <p:sp>
        <p:nvSpPr>
          <p:cNvPr id="14" name="AutoShape 10">
            <a:extLst>
              <a:ext uri="{FF2B5EF4-FFF2-40B4-BE49-F238E27FC236}">
                <a16:creationId xmlns:a16="http://schemas.microsoft.com/office/drawing/2014/main" id="{DA075FF2-66E2-AF39-99FB-2C51506898A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Picture 15">
            <a:extLst>
              <a:ext uri="{FF2B5EF4-FFF2-40B4-BE49-F238E27FC236}">
                <a16:creationId xmlns:a16="http://schemas.microsoft.com/office/drawing/2014/main" id="{8E593749-5F20-2721-2A19-11135E0597AA}"/>
              </a:ext>
            </a:extLst>
          </p:cNvPr>
          <p:cNvPicPr>
            <a:picLocks noChangeAspect="1"/>
          </p:cNvPicPr>
          <p:nvPr/>
        </p:nvPicPr>
        <p:blipFill>
          <a:blip r:embed="rId4"/>
          <a:stretch>
            <a:fillRect/>
          </a:stretch>
        </p:blipFill>
        <p:spPr>
          <a:xfrm>
            <a:off x="8388490" y="4191"/>
            <a:ext cx="3409084" cy="2188298"/>
          </a:xfrm>
          <a:prstGeom prst="rect">
            <a:avLst/>
          </a:prstGeom>
        </p:spPr>
      </p:pic>
      <p:sp>
        <p:nvSpPr>
          <p:cNvPr id="17" name="TextBox 16">
            <a:extLst>
              <a:ext uri="{FF2B5EF4-FFF2-40B4-BE49-F238E27FC236}">
                <a16:creationId xmlns:a16="http://schemas.microsoft.com/office/drawing/2014/main" id="{3BE9A180-BB76-1B70-BB26-CBE6EBF36464}"/>
              </a:ext>
            </a:extLst>
          </p:cNvPr>
          <p:cNvSpPr txBox="1"/>
          <p:nvPr/>
        </p:nvSpPr>
        <p:spPr>
          <a:xfrm>
            <a:off x="8509473" y="2451798"/>
            <a:ext cx="3682527" cy="369332"/>
          </a:xfrm>
          <a:prstGeom prst="rect">
            <a:avLst/>
          </a:prstGeom>
          <a:noFill/>
        </p:spPr>
        <p:txBody>
          <a:bodyPr wrap="square" rtlCol="0">
            <a:spAutoFit/>
          </a:bodyPr>
          <a:lstStyle/>
          <a:p>
            <a:r>
              <a:rPr lang="en-IN" dirty="0"/>
              <a:t>2000s – Mechanism Understanding</a:t>
            </a:r>
          </a:p>
        </p:txBody>
      </p:sp>
      <p:pic>
        <p:nvPicPr>
          <p:cNvPr id="19" name="Picture 18">
            <a:extLst>
              <a:ext uri="{FF2B5EF4-FFF2-40B4-BE49-F238E27FC236}">
                <a16:creationId xmlns:a16="http://schemas.microsoft.com/office/drawing/2014/main" id="{ABE13FB1-6F86-91CB-2B86-E75C8DDB8EC7}"/>
              </a:ext>
            </a:extLst>
          </p:cNvPr>
          <p:cNvPicPr>
            <a:picLocks noChangeAspect="1"/>
          </p:cNvPicPr>
          <p:nvPr/>
        </p:nvPicPr>
        <p:blipFill>
          <a:blip r:embed="rId5"/>
          <a:srcRect b="5804"/>
          <a:stretch>
            <a:fillRect/>
          </a:stretch>
        </p:blipFill>
        <p:spPr>
          <a:xfrm>
            <a:off x="539421" y="2946525"/>
            <a:ext cx="4220310" cy="2080547"/>
          </a:xfrm>
          <a:prstGeom prst="rect">
            <a:avLst/>
          </a:prstGeom>
        </p:spPr>
      </p:pic>
      <p:pic>
        <p:nvPicPr>
          <p:cNvPr id="21" name="Picture 20">
            <a:extLst>
              <a:ext uri="{FF2B5EF4-FFF2-40B4-BE49-F238E27FC236}">
                <a16:creationId xmlns:a16="http://schemas.microsoft.com/office/drawing/2014/main" id="{EA7C126C-019C-D8CC-C198-ECAD8EF48F5B}"/>
              </a:ext>
            </a:extLst>
          </p:cNvPr>
          <p:cNvPicPr>
            <a:picLocks noChangeAspect="1"/>
          </p:cNvPicPr>
          <p:nvPr/>
        </p:nvPicPr>
        <p:blipFill>
          <a:blip r:embed="rId6"/>
          <a:stretch>
            <a:fillRect/>
          </a:stretch>
        </p:blipFill>
        <p:spPr>
          <a:xfrm>
            <a:off x="6096000" y="3169811"/>
            <a:ext cx="4333287" cy="1857261"/>
          </a:xfrm>
          <a:prstGeom prst="rect">
            <a:avLst/>
          </a:prstGeom>
        </p:spPr>
      </p:pic>
      <p:sp>
        <p:nvSpPr>
          <p:cNvPr id="22" name="TextBox 21">
            <a:extLst>
              <a:ext uri="{FF2B5EF4-FFF2-40B4-BE49-F238E27FC236}">
                <a16:creationId xmlns:a16="http://schemas.microsoft.com/office/drawing/2014/main" id="{A11DD6BC-7F19-780B-CFDB-1EB967CAF324}"/>
              </a:ext>
            </a:extLst>
          </p:cNvPr>
          <p:cNvSpPr txBox="1"/>
          <p:nvPr/>
        </p:nvSpPr>
        <p:spPr>
          <a:xfrm>
            <a:off x="643095" y="5096014"/>
            <a:ext cx="4491615" cy="369332"/>
          </a:xfrm>
          <a:prstGeom prst="rect">
            <a:avLst/>
          </a:prstGeom>
          <a:noFill/>
        </p:spPr>
        <p:txBody>
          <a:bodyPr wrap="square" rtlCol="0">
            <a:spAutoFit/>
          </a:bodyPr>
          <a:lstStyle/>
          <a:p>
            <a:r>
              <a:rPr lang="en-IN" dirty="0"/>
              <a:t>2010s – Advanced Materials &amp; Scaling</a:t>
            </a:r>
          </a:p>
        </p:txBody>
      </p:sp>
      <p:sp>
        <p:nvSpPr>
          <p:cNvPr id="23" name="TextBox 22">
            <a:extLst>
              <a:ext uri="{FF2B5EF4-FFF2-40B4-BE49-F238E27FC236}">
                <a16:creationId xmlns:a16="http://schemas.microsoft.com/office/drawing/2014/main" id="{92C1C3E4-0607-3265-02F9-8208507BC386}"/>
              </a:ext>
            </a:extLst>
          </p:cNvPr>
          <p:cNvSpPr txBox="1"/>
          <p:nvPr/>
        </p:nvSpPr>
        <p:spPr>
          <a:xfrm>
            <a:off x="6148811" y="5084946"/>
            <a:ext cx="4101296" cy="369332"/>
          </a:xfrm>
          <a:prstGeom prst="rect">
            <a:avLst/>
          </a:prstGeom>
          <a:noFill/>
        </p:spPr>
        <p:txBody>
          <a:bodyPr wrap="square" rtlCol="0">
            <a:spAutoFit/>
          </a:bodyPr>
          <a:lstStyle/>
          <a:p>
            <a:r>
              <a:rPr lang="en-IN" dirty="0"/>
              <a:t>2020s – Intelligent &amp; Multi-Physics CMP</a:t>
            </a:r>
          </a:p>
        </p:txBody>
      </p:sp>
      <p:sp>
        <p:nvSpPr>
          <p:cNvPr id="24" name="TextBox 23">
            <a:extLst>
              <a:ext uri="{FF2B5EF4-FFF2-40B4-BE49-F238E27FC236}">
                <a16:creationId xmlns:a16="http://schemas.microsoft.com/office/drawing/2014/main" id="{DF59459F-4899-596B-D573-04E883D0B7C5}"/>
              </a:ext>
            </a:extLst>
          </p:cNvPr>
          <p:cNvSpPr txBox="1"/>
          <p:nvPr/>
        </p:nvSpPr>
        <p:spPr>
          <a:xfrm>
            <a:off x="0" y="5567423"/>
            <a:ext cx="12192000" cy="1200329"/>
          </a:xfrm>
          <a:prstGeom prst="rect">
            <a:avLst/>
          </a:prstGeom>
          <a:noFill/>
        </p:spPr>
        <p:txBody>
          <a:bodyPr wrap="square" rtlCol="0">
            <a:spAutoFit/>
          </a:bodyPr>
          <a:lstStyle/>
          <a:p>
            <a:r>
              <a:rPr lang="en-IN" dirty="0">
                <a:hlinkClick r:id="rId7"/>
              </a:rPr>
              <a:t>https://www.horiba.com/int/semiconductor/process/chemical-mechanical-planarization-cmp/</a:t>
            </a:r>
            <a:endParaRPr lang="en-IN" dirty="0"/>
          </a:p>
          <a:p>
            <a:r>
              <a:rPr lang="en-IN" dirty="0">
                <a:hlinkClick r:id="rId8"/>
              </a:rPr>
              <a:t>https://resources.pcb.cadence.com/blog/2020-cmp-process-flow-chemical-mechanical-processing-for-electronics</a:t>
            </a:r>
            <a:endParaRPr lang="en-IN" dirty="0"/>
          </a:p>
          <a:p>
            <a:r>
              <a:rPr lang="en-IN" dirty="0">
                <a:hlinkClick r:id="rId9"/>
              </a:rPr>
              <a:t>https://www.researchgate.net/figure/a-Diagram-of-the-CMP-process-for-a-silicon-wafer-and-b-the-three-body-polishing_fig1_377172018</a:t>
            </a:r>
            <a:endParaRPr lang="en-IN" dirty="0"/>
          </a:p>
        </p:txBody>
      </p:sp>
    </p:spTree>
    <p:extLst>
      <p:ext uri="{BB962C8B-B14F-4D97-AF65-F5344CB8AC3E}">
        <p14:creationId xmlns:p14="http://schemas.microsoft.com/office/powerpoint/2010/main" val="4234841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CE7F-EA3F-652A-8F5D-6FB7167C2EB7}"/>
              </a:ext>
            </a:extLst>
          </p:cNvPr>
          <p:cNvSpPr>
            <a:spLocks noGrp="1"/>
          </p:cNvSpPr>
          <p:nvPr>
            <p:ph type="title"/>
          </p:nvPr>
        </p:nvSpPr>
        <p:spPr>
          <a:xfrm>
            <a:off x="631722" y="-136320"/>
            <a:ext cx="10515600" cy="1325563"/>
          </a:xfrm>
        </p:spPr>
        <p:txBody>
          <a:bodyPr/>
          <a:lstStyle/>
          <a:p>
            <a:r>
              <a:rPr lang="en-IN"/>
              <a:t>Methodology </a:t>
            </a:r>
            <a:endParaRPr lang="en-IN" dirty="0"/>
          </a:p>
        </p:txBody>
      </p:sp>
      <p:sp>
        <p:nvSpPr>
          <p:cNvPr id="3" name="Content Placeholder 2">
            <a:extLst>
              <a:ext uri="{FF2B5EF4-FFF2-40B4-BE49-F238E27FC236}">
                <a16:creationId xmlns:a16="http://schemas.microsoft.com/office/drawing/2014/main" id="{57CC8599-8BFF-248E-8BCC-33515C9A3561}"/>
              </a:ext>
            </a:extLst>
          </p:cNvPr>
          <p:cNvSpPr>
            <a:spLocks noGrp="1"/>
          </p:cNvSpPr>
          <p:nvPr>
            <p:ph idx="1"/>
          </p:nvPr>
        </p:nvSpPr>
        <p:spPr>
          <a:xfrm>
            <a:off x="838200" y="914400"/>
            <a:ext cx="10515600" cy="5515897"/>
          </a:xfrm>
        </p:spPr>
        <p:txBody>
          <a:bodyPr/>
          <a:lstStyle/>
          <a:p>
            <a:pPr marL="0" indent="0">
              <a:buNone/>
            </a:pPr>
            <a:r>
              <a:rPr lang="en-IN" dirty="0"/>
              <a:t>Flowchart </a:t>
            </a:r>
          </a:p>
          <a:p>
            <a:pPr marL="0" indent="0">
              <a:buNone/>
            </a:pPr>
            <a:endParaRPr lang="en-IN" dirty="0"/>
          </a:p>
        </p:txBody>
      </p:sp>
      <p:pic>
        <p:nvPicPr>
          <p:cNvPr id="4" name="Content Placeholder 7">
            <a:extLst>
              <a:ext uri="{FF2B5EF4-FFF2-40B4-BE49-F238E27FC236}">
                <a16:creationId xmlns:a16="http://schemas.microsoft.com/office/drawing/2014/main" id="{F82A03A5-4062-726E-5CEE-32B65566BB6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759" y="1632387"/>
            <a:ext cx="5492429" cy="4445490"/>
          </a:xfrm>
          <a:prstGeom prst="rect">
            <a:avLst/>
          </a:prstGeom>
          <a:noFill/>
        </p:spPr>
      </p:pic>
      <p:pic>
        <p:nvPicPr>
          <p:cNvPr id="5" name="Content Placeholder 8">
            <a:extLst>
              <a:ext uri="{FF2B5EF4-FFF2-40B4-BE49-F238E27FC236}">
                <a16:creationId xmlns:a16="http://schemas.microsoft.com/office/drawing/2014/main" id="{BA19138E-F297-8062-60D5-8658286E9466}"/>
              </a:ext>
            </a:extLst>
          </p:cNvPr>
          <p:cNvPicPr>
            <a:picLocks noChangeAspect="1"/>
          </p:cNvPicPr>
          <p:nvPr/>
        </p:nvPicPr>
        <p:blipFill>
          <a:blip r:embed="rId4"/>
          <a:stretch>
            <a:fillRect/>
          </a:stretch>
        </p:blipFill>
        <p:spPr>
          <a:xfrm>
            <a:off x="6096000" y="1449603"/>
            <a:ext cx="5181600" cy="4445490"/>
          </a:xfrm>
          <a:prstGeom prst="rect">
            <a:avLst/>
          </a:prstGeom>
        </p:spPr>
      </p:pic>
      <p:sp>
        <p:nvSpPr>
          <p:cNvPr id="6" name="TextBox 5">
            <a:extLst>
              <a:ext uri="{FF2B5EF4-FFF2-40B4-BE49-F238E27FC236}">
                <a16:creationId xmlns:a16="http://schemas.microsoft.com/office/drawing/2014/main" id="{FA133DD4-A37F-67DA-9957-6EB0CF8B0BD3}"/>
              </a:ext>
            </a:extLst>
          </p:cNvPr>
          <p:cNvSpPr txBox="1"/>
          <p:nvPr/>
        </p:nvSpPr>
        <p:spPr>
          <a:xfrm>
            <a:off x="218769" y="6245631"/>
            <a:ext cx="10309122" cy="369332"/>
          </a:xfrm>
          <a:prstGeom prst="rect">
            <a:avLst/>
          </a:prstGeom>
          <a:noFill/>
        </p:spPr>
        <p:txBody>
          <a:bodyPr wrap="square" rtlCol="0">
            <a:spAutoFit/>
          </a:bodyPr>
          <a:lstStyle/>
          <a:p>
            <a:r>
              <a:rPr lang="en-IN" dirty="0">
                <a:hlinkClick r:id="rId5"/>
              </a:rPr>
              <a:t>https://www.sciencedirect.com/science/chapter/edited-volume/abs/pii/B9780128217917000198</a:t>
            </a:r>
            <a:endParaRPr lang="en-IN" dirty="0"/>
          </a:p>
        </p:txBody>
      </p:sp>
    </p:spTree>
    <p:extLst>
      <p:ext uri="{BB962C8B-B14F-4D97-AF65-F5344CB8AC3E}">
        <p14:creationId xmlns:p14="http://schemas.microsoft.com/office/powerpoint/2010/main" val="3134527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14A4DE-AE55-5534-6FB5-3474DA33A542}"/>
              </a:ext>
            </a:extLst>
          </p:cNvPr>
          <p:cNvSpPr>
            <a:spLocks noGrp="1"/>
          </p:cNvSpPr>
          <p:nvPr>
            <p:ph idx="1"/>
          </p:nvPr>
        </p:nvSpPr>
        <p:spPr>
          <a:xfrm>
            <a:off x="838200" y="137652"/>
            <a:ext cx="10515600" cy="6518787"/>
          </a:xfrm>
        </p:spPr>
        <p:txBody>
          <a:bodyPr>
            <a:normAutofit/>
          </a:bodyPr>
          <a:lstStyle/>
          <a:p>
            <a:pPr marL="0" indent="0">
              <a:buNone/>
            </a:pPr>
            <a:r>
              <a:rPr lang="en-US" sz="2400" b="1" dirty="0"/>
              <a:t>Description:-</a:t>
            </a:r>
            <a:endParaRPr lang="en-US" sz="2000" b="1" dirty="0"/>
          </a:p>
          <a:p>
            <a:pPr marL="0" indent="0">
              <a:buNone/>
            </a:pPr>
            <a:r>
              <a:rPr lang="en-US" sz="2000" dirty="0"/>
              <a:t>The simulation is carried out using </a:t>
            </a:r>
            <a:r>
              <a:rPr lang="en-US" sz="2000" b="1" dirty="0"/>
              <a:t>Synopsys </a:t>
            </a:r>
            <a:r>
              <a:rPr lang="en-US" sz="2000" b="1" dirty="0" err="1"/>
              <a:t>Sentaurus</a:t>
            </a:r>
            <a:r>
              <a:rPr lang="en-US" sz="2000" b="1" dirty="0"/>
              <a:t> TCAD (</a:t>
            </a:r>
            <a:r>
              <a:rPr lang="en-US" sz="2000" b="1" dirty="0" err="1"/>
              <a:t>SProcess</a:t>
            </a:r>
            <a:r>
              <a:rPr lang="en-US" sz="2000" b="1" dirty="0"/>
              <a:t>)</a:t>
            </a:r>
            <a:r>
              <a:rPr lang="en-US" sz="2000" dirty="0"/>
              <a:t> to model the fabrication and planarization steps in a </a:t>
            </a:r>
            <a:r>
              <a:rPr lang="en-US" sz="2000" b="1" dirty="0"/>
              <a:t>2D structure</a:t>
            </a:r>
            <a:r>
              <a:rPr lang="en-US" sz="2000" dirty="0"/>
              <a:t>.</a:t>
            </a:r>
          </a:p>
          <a:p>
            <a:pPr marL="0" indent="0">
              <a:buNone/>
            </a:pPr>
            <a:r>
              <a:rPr lang="en-US" sz="2000" dirty="0"/>
              <a:t>A silicon substrate is first initialized with a uniform phosphorus doping concentration of </a:t>
            </a:r>
            <a:r>
              <a:rPr lang="en-US" sz="2000" b="1" dirty="0"/>
              <a:t>1×1015 cm−31</a:t>
            </a:r>
          </a:p>
          <a:p>
            <a:pPr marL="0" indent="0">
              <a:buNone/>
            </a:pPr>
            <a:r>
              <a:rPr lang="en-US" sz="2000" dirty="0"/>
              <a:t> A trench is then formed using anisotropic etching with a depth of </a:t>
            </a:r>
            <a:r>
              <a:rPr lang="en-US" sz="2000" b="1" dirty="0"/>
              <a:t>0.4 µm </a:t>
            </a:r>
            <a:r>
              <a:rPr lang="en-US" sz="2000" dirty="0"/>
              <a:t>over a masked region </a:t>
            </a:r>
            <a:r>
              <a:rPr lang="en-US" sz="2000" b="1" dirty="0"/>
              <a:t>(3–7 µm), </a:t>
            </a:r>
            <a:r>
              <a:rPr lang="en-US" sz="2000" dirty="0"/>
              <a:t>creating surface topography.</a:t>
            </a:r>
          </a:p>
          <a:p>
            <a:pPr marL="0" indent="0">
              <a:buNone/>
            </a:pPr>
            <a:r>
              <a:rPr lang="en-US" sz="2000" dirty="0"/>
              <a:t>An oxide layer is subsequently formed over the structure. </a:t>
            </a:r>
          </a:p>
          <a:p>
            <a:pPr marL="0" indent="0">
              <a:buNone/>
            </a:pPr>
            <a:r>
              <a:rPr lang="en-US" sz="2000" dirty="0"/>
              <a:t>The oxide growth is described using the </a:t>
            </a:r>
            <a:r>
              <a:rPr lang="en-US" sz="2000" b="1" dirty="0"/>
              <a:t>Deal–Grove oxidation model</a:t>
            </a:r>
            <a:r>
              <a:rPr lang="en-US" sz="2000" dirty="0"/>
              <a:t>, which accounts for both reaction-limited and diffusion-limited oxidation mechanisms. </a:t>
            </a:r>
          </a:p>
          <a:p>
            <a:pPr marL="0" indent="0">
              <a:buNone/>
            </a:pPr>
            <a:r>
              <a:rPr lang="en-US" sz="2000" dirty="0"/>
              <a:t>The deposition results in a </a:t>
            </a:r>
            <a:r>
              <a:rPr lang="en-US" sz="2000" b="1" dirty="0"/>
              <a:t>non-planar oxide surface with overburden.</a:t>
            </a:r>
          </a:p>
          <a:p>
            <a:pPr marL="0" indent="0">
              <a:buNone/>
            </a:pPr>
            <a:r>
              <a:rPr lang="en-US" sz="2000" dirty="0"/>
              <a:t>Planarization is then performed using a CMP process modeled based on the Preston equation, where the material removal rate depends on applied pressure and relative velocity. </a:t>
            </a:r>
          </a:p>
          <a:p>
            <a:pPr marL="0" indent="0">
              <a:buNone/>
            </a:pPr>
            <a:r>
              <a:rPr lang="en-US" sz="2000" dirty="0"/>
              <a:t>This results in preferential removal of material from elevated regions, leading to surface planarization.</a:t>
            </a:r>
            <a:endParaRPr lang="en-IN" sz="2000" dirty="0"/>
          </a:p>
        </p:txBody>
      </p:sp>
    </p:spTree>
    <p:extLst>
      <p:ext uri="{BB962C8B-B14F-4D97-AF65-F5344CB8AC3E}">
        <p14:creationId xmlns:p14="http://schemas.microsoft.com/office/powerpoint/2010/main" val="2661596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CE8E3-3805-68B0-26E7-97DB8AC0A8DC}"/>
              </a:ext>
            </a:extLst>
          </p:cNvPr>
          <p:cNvSpPr>
            <a:spLocks noGrp="1"/>
          </p:cNvSpPr>
          <p:nvPr>
            <p:ph type="title"/>
          </p:nvPr>
        </p:nvSpPr>
        <p:spPr/>
        <p:txBody>
          <a:bodyPr>
            <a:normAutofit fontScale="90000"/>
          </a:bodyPr>
          <a:lstStyle/>
          <a:p>
            <a:r>
              <a:rPr lang="en-IN" dirty="0"/>
              <a:t>Mechanism of Chemical Mechanical Polishing (CMP)</a:t>
            </a:r>
            <a:br>
              <a:rPr lang="en-IN" dirty="0"/>
            </a:br>
            <a:endParaRPr lang="en-IN" dirty="0"/>
          </a:p>
        </p:txBody>
      </p:sp>
      <p:sp>
        <p:nvSpPr>
          <p:cNvPr id="3" name="Content Placeholder 2">
            <a:extLst>
              <a:ext uri="{FF2B5EF4-FFF2-40B4-BE49-F238E27FC236}">
                <a16:creationId xmlns:a16="http://schemas.microsoft.com/office/drawing/2014/main" id="{CB13D3C0-B175-1A35-4642-52E5A0DFF1A5}"/>
              </a:ext>
            </a:extLst>
          </p:cNvPr>
          <p:cNvSpPr>
            <a:spLocks noGrp="1"/>
          </p:cNvSpPr>
          <p:nvPr>
            <p:ph idx="1"/>
          </p:nvPr>
        </p:nvSpPr>
        <p:spPr>
          <a:xfrm>
            <a:off x="838200" y="1525279"/>
            <a:ext cx="10515600" cy="5199986"/>
          </a:xfrm>
        </p:spPr>
        <p:txBody>
          <a:bodyPr>
            <a:normAutofit fontScale="92500" lnSpcReduction="10000"/>
          </a:bodyPr>
          <a:lstStyle/>
          <a:p>
            <a:pPr marL="0" indent="0">
              <a:buNone/>
            </a:pPr>
            <a:r>
              <a:rPr lang="en-US" sz="2000" dirty="0"/>
              <a:t>Chemical Mechanical Polishing (CMP) is a synergistic surface planarization process in which chemical reactions at the wafer surface are continuously coupled with mechanical abrasion from a polishing pad and slurry abrasives. Unlike purely mechanical polishing or wet chemical etching, CMP achieves high planarity, selectivity, and surface quality, which are essential for advanced VLSI fabrication.</a:t>
            </a:r>
          </a:p>
          <a:p>
            <a:pPr marL="0" indent="0">
              <a:buNone/>
            </a:pPr>
            <a:r>
              <a:rPr lang="en-IN" sz="2000" b="1" dirty="0"/>
              <a:t>1. Chemical Mechanism</a:t>
            </a:r>
          </a:p>
          <a:p>
            <a:pPr marL="0" indent="0">
              <a:buNone/>
            </a:pPr>
            <a:r>
              <a:rPr lang="en-IN" sz="2100" dirty="0"/>
              <a:t>The chemical component of CMP involves controlled surface modification of the wafer material by the slurry chemistry.</a:t>
            </a:r>
          </a:p>
          <a:p>
            <a:pPr marL="0" indent="0">
              <a:buNone/>
            </a:pPr>
            <a:r>
              <a:rPr lang="en-IN" sz="2100" dirty="0"/>
              <a:t>Oxidizers (e.g., H₂O₂, Fe(NO₃)₃, KIO₃) react with the wafer surface. </a:t>
            </a:r>
          </a:p>
          <a:p>
            <a:pPr marL="0" indent="0">
              <a:buNone/>
            </a:pPr>
            <a:r>
              <a:rPr lang="en-IN" sz="2100" dirty="0"/>
              <a:t>A thin, softened reaction layer forms on the surface: </a:t>
            </a:r>
          </a:p>
          <a:p>
            <a:pPr lvl="1"/>
            <a:r>
              <a:rPr lang="en-IN" sz="2100" dirty="0"/>
              <a:t>For silicon: hydrated silicon oxide (</a:t>
            </a:r>
            <a:r>
              <a:rPr lang="en-IN" sz="2100" dirty="0" err="1"/>
              <a:t>SiO</a:t>
            </a:r>
            <a:r>
              <a:rPr lang="en-IN" sz="2100" dirty="0"/>
              <a:t>ₓ·</a:t>
            </a:r>
            <a:r>
              <a:rPr lang="en-IN" sz="2100" dirty="0" err="1"/>
              <a:t>nH₂O</a:t>
            </a:r>
            <a:r>
              <a:rPr lang="en-IN" sz="2100" dirty="0"/>
              <a:t>) </a:t>
            </a:r>
          </a:p>
          <a:p>
            <a:pPr lvl="1"/>
            <a:r>
              <a:rPr lang="en-IN" sz="2100" dirty="0"/>
              <a:t>For copper: </a:t>
            </a:r>
            <a:r>
              <a:rPr lang="en-IN" sz="2100" dirty="0" err="1"/>
              <a:t>Cu₂O</a:t>
            </a:r>
            <a:r>
              <a:rPr lang="en-IN" sz="2100" dirty="0"/>
              <a:t> / </a:t>
            </a:r>
            <a:r>
              <a:rPr lang="en-IN" sz="2100" dirty="0" err="1"/>
              <a:t>CuO</a:t>
            </a:r>
            <a:r>
              <a:rPr lang="en-IN" sz="2100" dirty="0"/>
              <a:t> </a:t>
            </a:r>
          </a:p>
          <a:p>
            <a:pPr marL="0" indent="0">
              <a:buNone/>
            </a:pPr>
            <a:r>
              <a:rPr lang="en-IN" sz="2100" dirty="0"/>
              <a:t>Complexing agents (e.g., glycine, citric acid) stabilize dissolved ions and prevent redeposition. </a:t>
            </a:r>
          </a:p>
          <a:p>
            <a:pPr marL="0" indent="0">
              <a:buNone/>
            </a:pPr>
            <a:r>
              <a:rPr lang="en-IN" sz="2100" dirty="0"/>
              <a:t>pH regulators control reaction kinetics and material selectivity.</a:t>
            </a:r>
          </a:p>
          <a:p>
            <a:pPr marL="0" indent="0">
              <a:buNone/>
            </a:pPr>
            <a:endParaRPr lang="en-IN" sz="2100" dirty="0"/>
          </a:p>
          <a:p>
            <a:pPr marL="0" indent="0">
              <a:buNone/>
            </a:pPr>
            <a:r>
              <a:rPr lang="en-IN" sz="2000" dirty="0">
                <a:solidFill>
                  <a:srgbClr val="FF0000"/>
                </a:solidFill>
              </a:rPr>
              <a:t>K. Tanaka, M. Rossi, J.-P. Laurent, H. Al-Mansoori, T. Becker, and V. </a:t>
            </a:r>
            <a:r>
              <a:rPr lang="en-IN" sz="2000" dirty="0" err="1">
                <a:solidFill>
                  <a:srgbClr val="FF0000"/>
                </a:solidFill>
              </a:rPr>
              <a:t>Petrov,“Nanoparticles</a:t>
            </a:r>
            <a:r>
              <a:rPr lang="en-IN" sz="2000" dirty="0">
                <a:solidFill>
                  <a:srgbClr val="FF0000"/>
                </a:solidFill>
              </a:rPr>
              <a:t> for chemical mechanical planarization: A review,” Nanomaterials, vol. 15, no. 17, 2025.</a:t>
            </a:r>
          </a:p>
        </p:txBody>
      </p:sp>
    </p:spTree>
    <p:extLst>
      <p:ext uri="{BB962C8B-B14F-4D97-AF65-F5344CB8AC3E}">
        <p14:creationId xmlns:p14="http://schemas.microsoft.com/office/powerpoint/2010/main" val="1286169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285B1D-2F30-3FBB-0955-580EC3AB574D}"/>
              </a:ext>
            </a:extLst>
          </p:cNvPr>
          <p:cNvSpPr>
            <a:spLocks noGrp="1"/>
          </p:cNvSpPr>
          <p:nvPr>
            <p:ph idx="1"/>
          </p:nvPr>
        </p:nvSpPr>
        <p:spPr>
          <a:xfrm>
            <a:off x="255639" y="98322"/>
            <a:ext cx="11690555" cy="6597445"/>
          </a:xfrm>
        </p:spPr>
        <p:txBody>
          <a:bodyPr>
            <a:normAutofit fontScale="70000" lnSpcReduction="20000"/>
          </a:bodyPr>
          <a:lstStyle/>
          <a:p>
            <a:pPr marL="0" indent="0">
              <a:buNone/>
            </a:pPr>
            <a:r>
              <a:rPr lang="en-US" b="1" dirty="0"/>
              <a:t>2. Mechanical Mechanism</a:t>
            </a:r>
          </a:p>
          <a:p>
            <a:pPr marL="0" indent="0">
              <a:buNone/>
            </a:pPr>
            <a:r>
              <a:rPr lang="en-US" dirty="0"/>
              <a:t>The mechanical mechanism of chemical mechanical polishing is governed by the interaction between slurry abrasives, the polishing pad, and the wafer surface. The slurry contains nanoscale abrasive particles such as silica, alumina, or ceria, which become trapped between the wafer surface and the microscopic asperities of the polishing pad. When a downforce is applied and relative motion exists between the wafer and the pad, these abrasive particles induce micro-cutting and micro-plowing actions on the surface, while micro-fracture remains minimal in CMP. This controlled mechanical action contributes to material removal; however, mechanical abrasion alone would lead to surface scratches and damage, making the chemical component essential for gentle and controlled polishing.</a:t>
            </a:r>
          </a:p>
          <a:p>
            <a:pPr marL="0" indent="0">
              <a:buNone/>
            </a:pPr>
            <a:r>
              <a:rPr lang="en-US" b="1" dirty="0"/>
              <a:t>2.1 Abrasive Action</a:t>
            </a:r>
          </a:p>
          <a:p>
            <a:pPr marL="0" indent="0">
              <a:buNone/>
            </a:pPr>
            <a:r>
              <a:rPr lang="en-US" dirty="0"/>
              <a:t>Abrasive particles suspended in the slurry act as the primary agents of mechanical material removal. These particles are held at the pad–wafer interface by pad asperities and are pressed against the wafer surface under applied pressure. The relative motion between the pad and the wafer causes the abrasives to slide and roll, producing localized shearing and plowing of the chemically softened surface layer. Because the abrasives are nanoscale and the surface layer is weakened by chemical reactions, the removal process remains controlled and minimizes surface damage.</a:t>
            </a:r>
          </a:p>
          <a:p>
            <a:pPr marL="0" indent="0">
              <a:buNone/>
            </a:pPr>
            <a:r>
              <a:rPr lang="en-US" b="1" dirty="0"/>
              <a:t>2.2 Pad–Wafer Contact</a:t>
            </a:r>
          </a:p>
          <a:p>
            <a:pPr marL="0" indent="0">
              <a:buNone/>
            </a:pPr>
            <a:r>
              <a:rPr lang="en-US" dirty="0"/>
              <a:t>The polishing pad, typically made of polyurethane, contains micro-asperities and an interconnected porous structure that facilitates slurry transport to the contact interface. These asperities transmit the applied pressure, retain abrasive particles, and regulate the local material removal rate. The mechanical properties of the pad, including hardness and elasticity, strongly influence polishing uniformity, contact mechanics, and defect generation. The pad thus serves as a critical mediator between the applied mechanical load and the microscopic removal events at the wafer surface.</a:t>
            </a:r>
          </a:p>
          <a:p>
            <a:pPr marL="0" indent="0">
              <a:buNone/>
            </a:pPr>
            <a:endParaRPr lang="en-IN" dirty="0"/>
          </a:p>
          <a:p>
            <a:pPr marL="0" indent="0">
              <a:buNone/>
            </a:pPr>
            <a:r>
              <a:rPr lang="en-IN" dirty="0">
                <a:solidFill>
                  <a:srgbClr val="FF0000"/>
                </a:solidFill>
              </a:rPr>
              <a:t>K. Tanaka, M. Rossi, J.-P. Laurent, H. Al-Mansoori, T. Becker, and V. </a:t>
            </a:r>
            <a:r>
              <a:rPr lang="en-IN" dirty="0" err="1">
                <a:solidFill>
                  <a:srgbClr val="FF0000"/>
                </a:solidFill>
              </a:rPr>
              <a:t>Petrov,“Nanoparticles</a:t>
            </a:r>
            <a:r>
              <a:rPr lang="en-IN" dirty="0">
                <a:solidFill>
                  <a:srgbClr val="FF0000"/>
                </a:solidFill>
              </a:rPr>
              <a:t> for chemical mechanical planarization: A review,” Nanomaterials, vol. 15, no. 17, 2025.</a:t>
            </a:r>
          </a:p>
        </p:txBody>
      </p:sp>
    </p:spTree>
    <p:extLst>
      <p:ext uri="{BB962C8B-B14F-4D97-AF65-F5344CB8AC3E}">
        <p14:creationId xmlns:p14="http://schemas.microsoft.com/office/powerpoint/2010/main" val="2458008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3976A-ECBA-599A-AB34-AACB6F4C8E2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64F5653-5F1F-2E86-AD51-C831A567626E}"/>
                  </a:ext>
                </a:extLst>
              </p:cNvPr>
              <p:cNvSpPr>
                <a:spLocks noGrp="1"/>
              </p:cNvSpPr>
              <p:nvPr>
                <p:ph idx="1"/>
              </p:nvPr>
            </p:nvSpPr>
            <p:spPr>
              <a:xfrm>
                <a:off x="255639" y="98322"/>
                <a:ext cx="11690555" cy="6597445"/>
              </a:xfrm>
            </p:spPr>
            <p:txBody>
              <a:bodyPr>
                <a:normAutofit fontScale="70000" lnSpcReduction="20000"/>
              </a:bodyPr>
              <a:lstStyle/>
              <a:p>
                <a:pPr marL="0" indent="0">
                  <a:buNone/>
                </a:pPr>
                <a:r>
                  <a:rPr lang="en-US" b="1" dirty="0"/>
                  <a:t>3. Synergistic CMP Action</a:t>
                </a:r>
              </a:p>
              <a:p>
                <a:pPr marL="0" indent="0">
                  <a:buNone/>
                </a:pPr>
                <a:r>
                  <a:rPr lang="en-US" dirty="0"/>
                  <a:t>The core mechanism of CMP arises from the synergistic coupling of chemical and mechanical processes. Initially, a chemical reaction forms a thin reacted or softened layer on the wafer surface. Mechanical action then removes this layer through abrasive interaction, exposing a fresh surface that undergoes further chemical modification. This cyclic process continues throughout polishing, and the overall material removal rate is governed by the combined effects of chemical reaction kinetics and mechanical stress. Effective CMP cannot be achieved by chemistry or mechanics alone; it requires their simultaneous and balanced interaction.</a:t>
                </a:r>
              </a:p>
              <a:p>
                <a:pPr marL="0" indent="0">
                  <a:buNone/>
                </a:pPr>
                <a:r>
                  <a:rPr lang="en-US" b="1" dirty="0"/>
                  <a:t>4. Preston’s Equation</a:t>
                </a:r>
              </a:p>
              <a:p>
                <a:pPr marL="0" indent="0">
                  <a:buNone/>
                </a:pPr>
                <a:r>
                  <a:rPr lang="en-US" dirty="0"/>
                  <a:t>At the macroscopic scale, CMP behavior is often described using Preston’s equation, which relates the material removal rate to the applied pressure and the relative velocity between the polishing pad and the wafer. A proportionality constant, known as the Preston coefficient, incorporates the effects of slurry chemistry, pad characteristics, abrasive properties, and interfacial mechanics. This coefficient effectively links the microscopic removal mechanisms to the observed polishing rate.</a:t>
                </a:r>
              </a:p>
              <a:p>
                <a:pPr marL="0" indent="0">
                  <a:buNone/>
                </a:pPr>
                <a:r>
                  <a:rPr lang="en-IN" dirty="0"/>
                  <a:t>					</a:t>
                </a:r>
                <a:r>
                  <a:rPr lang="en-IN" b="1" dirty="0"/>
                  <a:t>MRR=</a:t>
                </a:r>
                <a:r>
                  <a:rPr lang="en-IN" b="1" dirty="0" err="1"/>
                  <a:t>kp</a:t>
                </a:r>
                <a:r>
                  <a:rPr lang="en-IN" b="1" dirty="0"/>
                  <a:t>​PV</a:t>
                </a:r>
                <a:endParaRPr lang="en-US" b="1" dirty="0"/>
              </a:p>
              <a:p>
                <a:pPr marL="0" indent="0">
                  <a:buNone/>
                </a:pPr>
                <a:r>
                  <a:rPr lang="en-IN" dirty="0"/>
                  <a:t>Where:</a:t>
                </a:r>
              </a:p>
              <a:p>
                <a:pPr marL="0" indent="0">
                  <a:buNone/>
                </a:pPr>
                <a14:m>
                  <m:oMath xmlns:m="http://schemas.openxmlformats.org/officeDocument/2006/math">
                    <m:r>
                      <m:rPr>
                        <m:nor/>
                      </m:rPr>
                      <a:rPr lang="en-IN" b="0"/>
                      <m:t>MRR</m:t>
                    </m:r>
                  </m:oMath>
                </a14:m>
                <a:r>
                  <a:rPr lang="en-IN" dirty="0"/>
                  <a:t>= Material Removal Rate </a:t>
                </a:r>
              </a:p>
              <a:p>
                <a:pPr marL="0" indent="0">
                  <a:buNone/>
                </a:pPr>
                <a14:m>
                  <m:oMath xmlns:m="http://schemas.openxmlformats.org/officeDocument/2006/math">
                    <m:r>
                      <a:rPr lang="en-IN" i="1">
                        <a:latin typeface="Cambria Math" panose="02040503050406030204" pitchFamily="18" charset="0"/>
                      </a:rPr>
                      <m:t>𝑃</m:t>
                    </m:r>
                  </m:oMath>
                </a14:m>
                <a:r>
                  <a:rPr lang="en-IN" dirty="0"/>
                  <a:t>= Applied pressure </a:t>
                </a:r>
              </a:p>
              <a:p>
                <a:pPr marL="0" indent="0">
                  <a:buNone/>
                </a:pPr>
                <a14:m>
                  <m:oMath xmlns:m="http://schemas.openxmlformats.org/officeDocument/2006/math">
                    <m:r>
                      <a:rPr lang="en-IN" i="1">
                        <a:latin typeface="Cambria Math" panose="02040503050406030204" pitchFamily="18" charset="0"/>
                      </a:rPr>
                      <m:t>𝑉</m:t>
                    </m:r>
                  </m:oMath>
                </a14:m>
                <a:r>
                  <a:rPr lang="en-IN" dirty="0"/>
                  <a:t>= Relative velocity (pad–wafer) </a:t>
                </a:r>
              </a:p>
              <a:p>
                <a:pPr marL="0" indent="0">
                  <a:buNone/>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𝑘</m:t>
                        </m:r>
                      </m:e>
                      <m:sub>
                        <m:r>
                          <a:rPr lang="ar-AE" i="1">
                            <a:latin typeface="Cambria Math" panose="02040503050406030204" pitchFamily="18" charset="0"/>
                          </a:rPr>
                          <m:t>𝑝</m:t>
                        </m:r>
                      </m:sub>
                    </m:sSub>
                  </m:oMath>
                </a14:m>
                <a:r>
                  <a:rPr lang="ar-AE" dirty="0"/>
                  <a:t>= </a:t>
                </a:r>
                <a:r>
                  <a:rPr lang="en-IN" dirty="0"/>
                  <a:t>Preston coefficient (captures slurry, pad, chemistry effects)</a:t>
                </a:r>
              </a:p>
              <a:p>
                <a:pPr marL="0" indent="0">
                  <a:buNone/>
                </a:pPr>
                <a:endParaRPr lang="en-IN" dirty="0"/>
              </a:p>
              <a:p>
                <a:pPr marL="0" indent="0">
                  <a:buNone/>
                </a:pPr>
                <a:r>
                  <a:rPr lang="en-IN" dirty="0">
                    <a:solidFill>
                      <a:srgbClr val="FF0000"/>
                    </a:solidFill>
                  </a:rPr>
                  <a:t>K. Tanaka, M. Rossi, J.-P. Laurent, H. Al-Mansoori, T. Becker, and V. </a:t>
                </a:r>
                <a:r>
                  <a:rPr lang="en-IN" dirty="0" err="1">
                    <a:solidFill>
                      <a:srgbClr val="FF0000"/>
                    </a:solidFill>
                  </a:rPr>
                  <a:t>Petrov,“Nanoparticles</a:t>
                </a:r>
                <a:r>
                  <a:rPr lang="en-IN" dirty="0">
                    <a:solidFill>
                      <a:srgbClr val="FF0000"/>
                    </a:solidFill>
                  </a:rPr>
                  <a:t> for chemical mechanical planarization: A review,” Nanomaterials, vol. 15, no. 17, 2025</a:t>
                </a:r>
                <a:r>
                  <a:rPr lang="en-IN" dirty="0"/>
                  <a:t>.</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US" dirty="0"/>
              </a:p>
              <a:p>
                <a:endParaRPr lang="en-US"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964F5653-5F1F-2E86-AD51-C831A567626E}"/>
                  </a:ext>
                </a:extLst>
              </p:cNvPr>
              <p:cNvSpPr>
                <a:spLocks noGrp="1" noRot="1" noChangeAspect="1" noMove="1" noResize="1" noEditPoints="1" noAdjustHandles="1" noChangeArrowheads="1" noChangeShapeType="1" noTextEdit="1"/>
              </p:cNvSpPr>
              <p:nvPr>
                <p:ph idx="1"/>
              </p:nvPr>
            </p:nvSpPr>
            <p:spPr>
              <a:xfrm>
                <a:off x="255639" y="98322"/>
                <a:ext cx="11690555" cy="6597445"/>
              </a:xfrm>
              <a:blipFill>
                <a:blip r:embed="rId2"/>
                <a:stretch>
                  <a:fillRect l="-574" t="-1571" r="-834"/>
                </a:stretch>
              </a:blipFill>
            </p:spPr>
            <p:txBody>
              <a:bodyPr/>
              <a:lstStyle/>
              <a:p>
                <a:r>
                  <a:rPr lang="en-IN">
                    <a:noFill/>
                  </a:rPr>
                  <a:t> </a:t>
                </a:r>
              </a:p>
            </p:txBody>
          </p:sp>
        </mc:Fallback>
      </mc:AlternateContent>
    </p:spTree>
    <p:extLst>
      <p:ext uri="{BB962C8B-B14F-4D97-AF65-F5344CB8AC3E}">
        <p14:creationId xmlns:p14="http://schemas.microsoft.com/office/powerpoint/2010/main" val="3647628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CACD8-11F7-D195-D2D0-EC48B0EE245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80E02A-1DED-B597-0944-59D1E5403398}"/>
              </a:ext>
            </a:extLst>
          </p:cNvPr>
          <p:cNvSpPr>
            <a:spLocks noGrp="1"/>
          </p:cNvSpPr>
          <p:nvPr>
            <p:ph idx="1"/>
          </p:nvPr>
        </p:nvSpPr>
        <p:spPr>
          <a:xfrm>
            <a:off x="255639" y="89178"/>
            <a:ext cx="11690555" cy="6597445"/>
          </a:xfrm>
        </p:spPr>
        <p:txBody>
          <a:bodyPr>
            <a:normAutofit fontScale="70000" lnSpcReduction="20000"/>
          </a:bodyPr>
          <a:lstStyle/>
          <a:p>
            <a:pPr marL="0" indent="0">
              <a:buNone/>
            </a:pPr>
            <a:r>
              <a:rPr lang="en-US" b="1" dirty="0"/>
              <a:t>5. Material-Specific CMP Mechanisms</a:t>
            </a:r>
          </a:p>
          <a:p>
            <a:pPr marL="0" indent="0">
              <a:buNone/>
            </a:pPr>
            <a:r>
              <a:rPr lang="en-US" b="1" dirty="0"/>
              <a:t>5.1 Oxide CMP</a:t>
            </a:r>
          </a:p>
          <a:p>
            <a:pPr marL="0" indent="0">
              <a:buNone/>
            </a:pPr>
            <a:r>
              <a:rPr lang="en-US" dirty="0"/>
              <a:t>In oxide CMP, chemical hydration of silicon–oxygen bonds leads to the formation of silanol groups on the surface. These weakened bonds are more easily removed by abrasive action. Ceria-based slurries exhibit enhanced selectivity due to strong chemical interactions between ceria particles and silicon dioxide, resulting in efficient and controlled oxide removal.</a:t>
            </a:r>
          </a:p>
          <a:p>
            <a:pPr marL="0" indent="0">
              <a:buNone/>
            </a:pPr>
            <a:r>
              <a:rPr lang="en-US" b="1" dirty="0"/>
              <a:t>5.2 Silicon CMP</a:t>
            </a:r>
          </a:p>
          <a:p>
            <a:pPr marL="0" indent="0">
              <a:buNone/>
            </a:pPr>
            <a:r>
              <a:rPr lang="en-US" dirty="0"/>
              <a:t>Silicon CMP proceeds through an oxidation–removal cycle in which the silicon surface is first oxidized to form a thin silicon dioxide layer. This oxide layer is then mechanically removed by abrasive action, exposing fresh silicon that undergoes further oxidation. Repetition of this cycle enables controlled planarization of silicon surfaces.</a:t>
            </a:r>
          </a:p>
          <a:p>
            <a:pPr marL="0" indent="0">
              <a:buNone/>
            </a:pPr>
            <a:r>
              <a:rPr lang="en-US" b="1" dirty="0"/>
              <a:t>5.3 Copper CMP</a:t>
            </a:r>
          </a:p>
          <a:p>
            <a:pPr marL="0" indent="0">
              <a:buNone/>
            </a:pPr>
            <a:r>
              <a:rPr lang="en-US" dirty="0"/>
              <a:t>In copper CMP, the surface undergoes oxidation to form copper oxides, followed by complexation of copper ions in the slurry. Mechanical removal is carefully regulated using corrosion inhibitors such as benzotriazole to prevent excessive copper loss, dishing, and corrosion. Achieving the correct balance between oxidation, complexation, and mechanical abrasion is critical for reliable copper planarization.</a:t>
            </a:r>
          </a:p>
          <a:p>
            <a:pPr marL="0" indent="0">
              <a:buNone/>
            </a:pPr>
            <a:r>
              <a:rPr lang="en-US" b="1" dirty="0"/>
              <a:t>6. Planarization Mechanism</a:t>
            </a:r>
          </a:p>
          <a:p>
            <a:pPr marL="0" indent="0">
              <a:buNone/>
            </a:pPr>
            <a:r>
              <a:rPr lang="en-US" dirty="0"/>
              <a:t>Planarization in CMP occurs because material is preferentially removed from topographic high regions. Raised features experience higher local pressure, increased contact with pad asperities, and greater effective abrasive interaction compared to recessed areas. As a result, protrusions are removed more rapidly than valleys, leading to both local and global surface flattening.</a:t>
            </a:r>
          </a:p>
          <a:p>
            <a:pPr marL="0" indent="0">
              <a:buNone/>
            </a:pPr>
            <a:endParaRPr lang="en-US" dirty="0"/>
          </a:p>
          <a:p>
            <a:pPr marL="0" indent="0">
              <a:buNone/>
            </a:pPr>
            <a:r>
              <a:rPr lang="en-US" dirty="0">
                <a:solidFill>
                  <a:srgbClr val="FF0000"/>
                </a:solidFill>
              </a:rPr>
              <a:t>K. Tanaka, M. Rossi, J.-P. Laurent, H. Al-Mansoori, T. Becker, and V. </a:t>
            </a:r>
            <a:r>
              <a:rPr lang="en-US" dirty="0" err="1">
                <a:solidFill>
                  <a:srgbClr val="FF0000"/>
                </a:solidFill>
              </a:rPr>
              <a:t>Petrov,“Nanoparticles</a:t>
            </a:r>
            <a:r>
              <a:rPr lang="en-US" dirty="0">
                <a:solidFill>
                  <a:srgbClr val="FF0000"/>
                </a:solidFill>
              </a:rPr>
              <a:t> for chemical mechanical planarization: A review,” Nanomaterials, vol. 15, no. 17, 2025.</a:t>
            </a:r>
          </a:p>
          <a:p>
            <a:pPr marL="0" indent="0">
              <a:buNone/>
            </a:pPr>
            <a:endParaRPr lang="en-IN" dirty="0"/>
          </a:p>
        </p:txBody>
      </p:sp>
    </p:spTree>
    <p:extLst>
      <p:ext uri="{BB962C8B-B14F-4D97-AF65-F5344CB8AC3E}">
        <p14:creationId xmlns:p14="http://schemas.microsoft.com/office/powerpoint/2010/main" val="2449038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7F5D0-1B53-E899-889B-44B2BCDF834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9A8F12-6997-44B7-EE69-9C73D6CBADA7}"/>
              </a:ext>
            </a:extLst>
          </p:cNvPr>
          <p:cNvSpPr>
            <a:spLocks noGrp="1"/>
          </p:cNvSpPr>
          <p:nvPr>
            <p:ph idx="1"/>
          </p:nvPr>
        </p:nvSpPr>
        <p:spPr>
          <a:xfrm>
            <a:off x="255639" y="98322"/>
            <a:ext cx="11690555" cy="6597445"/>
          </a:xfrm>
        </p:spPr>
        <p:txBody>
          <a:bodyPr>
            <a:normAutofit lnSpcReduction="10000"/>
          </a:bodyPr>
          <a:lstStyle/>
          <a:p>
            <a:pPr marL="0" indent="0">
              <a:buNone/>
            </a:pPr>
            <a:r>
              <a:rPr lang="en-US" sz="2000" b="1" dirty="0"/>
              <a:t>7. Defect Generation Mechanisms</a:t>
            </a:r>
          </a:p>
          <a:p>
            <a:pPr marL="0" indent="0">
              <a:buNone/>
            </a:pPr>
            <a:r>
              <a:rPr lang="en-US" sz="2000" dirty="0"/>
              <a:t>Defects in CMP arise when process conditions are not properly optimized. Scratches can form due to large abrasive particles or overly hard pads, while dishing occurs when excessive material is removed from wide features. Erosion is commonly associated with high pattern density regions, and corrosion results from overly aggressive slurry chemistry. Residual contamination may remain if post-polishing cleaning is insufficient, emphasizing the need for careful process control.</a:t>
            </a:r>
          </a:p>
          <a:p>
            <a:pPr marL="0" indent="0">
              <a:buNone/>
            </a:pPr>
            <a:r>
              <a:rPr lang="en-US" sz="2000" b="1" dirty="0"/>
              <a:t>8. Key Control Parameters</a:t>
            </a:r>
          </a:p>
          <a:p>
            <a:pPr marL="0" indent="0">
              <a:buNone/>
            </a:pPr>
            <a:r>
              <a:rPr lang="en-US" sz="2000" dirty="0"/>
              <a:t>CMP performance is governed by a combination of mechanical, chemical, slurry-related, and pattern-dependent parameters. Mechanical factors include applied pressure, polishing speed, and pad hardness. Chemical parameters involve slurry pH, oxidizer concentration, and inhibitor content. Slurry characteristics such as abrasive size and concentration influence removal behavior, while pattern density and feature geometry affect local polishing rates. Proper optimization of these parameters is essential for achieving uniform planarization with minimal defects.</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IN" sz="2200" dirty="0">
                <a:solidFill>
                  <a:srgbClr val="FF0000"/>
                </a:solidFill>
              </a:rPr>
              <a:t>K. Tanaka, M. Rossi, J.-P. Laurent, H. Al-Mansoori, T. Becker, and V. </a:t>
            </a:r>
            <a:r>
              <a:rPr lang="en-IN" sz="2200" dirty="0" err="1">
                <a:solidFill>
                  <a:srgbClr val="FF0000"/>
                </a:solidFill>
              </a:rPr>
              <a:t>Petrov,“Nanoparticles</a:t>
            </a:r>
            <a:r>
              <a:rPr lang="en-IN" sz="2200" dirty="0">
                <a:solidFill>
                  <a:srgbClr val="FF0000"/>
                </a:solidFill>
              </a:rPr>
              <a:t> for chemical mechanical planarization: A review,” Nanomaterials, vol. 15, no. 17, 2025</a:t>
            </a:r>
            <a:r>
              <a:rPr lang="en-IN" dirty="0"/>
              <a:t>.</a:t>
            </a:r>
          </a:p>
        </p:txBody>
      </p:sp>
    </p:spTree>
    <p:extLst>
      <p:ext uri="{BB962C8B-B14F-4D97-AF65-F5344CB8AC3E}">
        <p14:creationId xmlns:p14="http://schemas.microsoft.com/office/powerpoint/2010/main" val="1644781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64CBB-0EB7-701C-ADEE-C36F59CE228B}"/>
              </a:ext>
            </a:extLst>
          </p:cNvPr>
          <p:cNvSpPr>
            <a:spLocks noGrp="1"/>
          </p:cNvSpPr>
          <p:nvPr>
            <p:ph type="title"/>
          </p:nvPr>
        </p:nvSpPr>
        <p:spPr>
          <a:xfrm>
            <a:off x="680884" y="0"/>
            <a:ext cx="10515600" cy="1071256"/>
          </a:xfrm>
        </p:spPr>
        <p:txBody>
          <a:bodyPr/>
          <a:lstStyle/>
          <a:p>
            <a:r>
              <a:rPr lang="en-IN" dirty="0"/>
              <a:t>Figure of Merit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8FFDCD-EE58-C8F1-CF9A-A2A974D9392E}"/>
                  </a:ext>
                </a:extLst>
              </p:cNvPr>
              <p:cNvSpPr>
                <a:spLocks noGrp="1"/>
              </p:cNvSpPr>
              <p:nvPr>
                <p:ph idx="1"/>
              </p:nvPr>
            </p:nvSpPr>
            <p:spPr>
              <a:xfrm>
                <a:off x="543232" y="879704"/>
                <a:ext cx="10515600" cy="5978296"/>
              </a:xfrm>
            </p:spPr>
            <p:txBody>
              <a:bodyPr>
                <a:noAutofit/>
              </a:bodyPr>
              <a:lstStyle/>
              <a:p>
                <a:pPr marL="0" indent="0">
                  <a:buNone/>
                </a:pPr>
                <a:r>
                  <a:rPr lang="en-IN" sz="1900" dirty="0"/>
                  <a:t>The </a:t>
                </a:r>
                <a:r>
                  <a:rPr lang="en-IN" sz="1900" b="1" dirty="0"/>
                  <a:t>primary figure of merit</a:t>
                </a:r>
                <a:r>
                  <a:rPr lang="en-IN" sz="1900" dirty="0"/>
                  <a:t> in Chemical Mechanical Planarization is </a:t>
                </a:r>
                <a:r>
                  <a:rPr lang="en-IN" sz="1900" b="1" dirty="0"/>
                  <a:t>planarization efficiency (PE)</a:t>
                </a:r>
                <a:r>
                  <a:rPr lang="en-IN" sz="1900" dirty="0"/>
                  <a:t>, which quantifies how effectively surface non-uniformity is reduced during polishing.</a:t>
                </a:r>
              </a:p>
              <a:p>
                <a:pPr marL="0" indent="0">
                  <a:buNone/>
                </a:pPr>
                <a14:m>
                  <m:oMathPara xmlns:m="http://schemas.openxmlformats.org/officeDocument/2006/math">
                    <m:oMathParaPr>
                      <m:jc m:val="centerGroup"/>
                    </m:oMathParaPr>
                    <m:oMath xmlns:m="http://schemas.openxmlformats.org/officeDocument/2006/math">
                      <m:borderBox>
                        <m:borderBoxPr>
                          <m:ctrlPr>
                            <a:rPr lang="ar-AE" sz="1900" i="1">
                              <a:latin typeface="Cambria Math" panose="02040503050406030204" pitchFamily="18" charset="0"/>
                            </a:rPr>
                          </m:ctrlPr>
                        </m:borderBoxPr>
                        <m:e>
                          <m:r>
                            <m:rPr>
                              <m:nor/>
                            </m:rPr>
                            <a:rPr lang="en-IN" sz="1900" b="0"/>
                            <m:t>PE</m:t>
                          </m:r>
                          <m:r>
                            <a:rPr lang="en-IN" sz="1900">
                              <a:latin typeface="Cambria Math" panose="02040503050406030204" pitchFamily="18" charset="0"/>
                            </a:rPr>
                            <m:t>=</m:t>
                          </m:r>
                          <m:f>
                            <m:fPr>
                              <m:ctrlPr>
                                <a:rPr lang="ar-AE" sz="1900" i="1">
                                  <a:latin typeface="Cambria Math" panose="02040503050406030204" pitchFamily="18" charset="0"/>
                                </a:rPr>
                              </m:ctrlPr>
                            </m:fPr>
                            <m:num>
                              <m:r>
                                <m:rPr>
                                  <m:sty m:val="p"/>
                                </m:rPr>
                                <a:rPr lang="el-GR" sz="1900">
                                  <a:latin typeface="Cambria Math" panose="02040503050406030204" pitchFamily="18" charset="0"/>
                                </a:rPr>
                                <m:t>Δ</m:t>
                              </m:r>
                              <m:sSub>
                                <m:sSubPr>
                                  <m:ctrlPr>
                                    <a:rPr lang="ar-AE" sz="1900" i="1">
                                      <a:latin typeface="Cambria Math" panose="02040503050406030204" pitchFamily="18" charset="0"/>
                                    </a:rPr>
                                  </m:ctrlPr>
                                </m:sSubPr>
                                <m:e>
                                  <m:r>
                                    <a:rPr lang="ar-AE" sz="1900" i="1">
                                      <a:latin typeface="Cambria Math" panose="02040503050406030204" pitchFamily="18" charset="0"/>
                                    </a:rPr>
                                    <m:t>h</m:t>
                                  </m:r>
                                </m:e>
                                <m:sub>
                                  <m:r>
                                    <m:rPr>
                                      <m:nor/>
                                    </m:rPr>
                                    <a:rPr lang="en-IN" sz="1900" i="1"/>
                                    <m:t>initial</m:t>
                                  </m:r>
                                </m:sub>
                              </m:sSub>
                              <m:r>
                                <a:rPr lang="ar-AE" sz="1900">
                                  <a:latin typeface="Cambria Math" panose="02040503050406030204" pitchFamily="18" charset="0"/>
                                </a:rPr>
                                <m:t>−</m:t>
                              </m:r>
                              <m:r>
                                <m:rPr>
                                  <m:sty m:val="p"/>
                                </m:rPr>
                                <a:rPr lang="el-GR" sz="1900">
                                  <a:latin typeface="Cambria Math" panose="02040503050406030204" pitchFamily="18" charset="0"/>
                                </a:rPr>
                                <m:t>Δ</m:t>
                              </m:r>
                              <m:sSub>
                                <m:sSubPr>
                                  <m:ctrlPr>
                                    <a:rPr lang="ar-AE" sz="1900" i="1">
                                      <a:latin typeface="Cambria Math" panose="02040503050406030204" pitchFamily="18" charset="0"/>
                                    </a:rPr>
                                  </m:ctrlPr>
                                </m:sSubPr>
                                <m:e>
                                  <m:r>
                                    <a:rPr lang="ar-AE" sz="1900" i="1">
                                      <a:latin typeface="Cambria Math" panose="02040503050406030204" pitchFamily="18" charset="0"/>
                                    </a:rPr>
                                    <m:t>h</m:t>
                                  </m:r>
                                </m:e>
                                <m:sub>
                                  <m:r>
                                    <m:rPr>
                                      <m:nor/>
                                    </m:rPr>
                                    <a:rPr lang="en-IN" sz="1900" i="1"/>
                                    <m:t>final</m:t>
                                  </m:r>
                                </m:sub>
                              </m:sSub>
                            </m:num>
                            <m:den>
                              <m:r>
                                <m:rPr>
                                  <m:sty m:val="p"/>
                                </m:rPr>
                                <a:rPr lang="el-GR" sz="1900">
                                  <a:latin typeface="Cambria Math" panose="02040503050406030204" pitchFamily="18" charset="0"/>
                                </a:rPr>
                                <m:t>Δ</m:t>
                              </m:r>
                              <m:sSub>
                                <m:sSubPr>
                                  <m:ctrlPr>
                                    <a:rPr lang="ar-AE" sz="1900" i="1">
                                      <a:latin typeface="Cambria Math" panose="02040503050406030204" pitchFamily="18" charset="0"/>
                                    </a:rPr>
                                  </m:ctrlPr>
                                </m:sSubPr>
                                <m:e>
                                  <m:r>
                                    <a:rPr lang="ar-AE" sz="1900" i="1">
                                      <a:latin typeface="Cambria Math" panose="02040503050406030204" pitchFamily="18" charset="0"/>
                                    </a:rPr>
                                    <m:t>h</m:t>
                                  </m:r>
                                </m:e>
                                <m:sub>
                                  <m:r>
                                    <m:rPr>
                                      <m:nor/>
                                    </m:rPr>
                                    <a:rPr lang="en-IN" sz="1900" i="1"/>
                                    <m:t>initial</m:t>
                                  </m:r>
                                </m:sub>
                              </m:sSub>
                            </m:den>
                          </m:f>
                        </m:e>
                      </m:borderBox>
                    </m:oMath>
                  </m:oMathPara>
                </a14:m>
                <a:endParaRPr lang="ar-AE" sz="1900" b="0" dirty="0"/>
              </a:p>
              <a:p>
                <a:pPr marL="0" indent="0">
                  <a:buNone/>
                </a:pPr>
                <a:r>
                  <a:rPr lang="en-IN" sz="1900" dirty="0"/>
                  <a:t>where </a:t>
                </a:r>
                <a14:m>
                  <m:oMath xmlns:m="http://schemas.openxmlformats.org/officeDocument/2006/math">
                    <m:r>
                      <m:rPr>
                        <m:sty m:val="p"/>
                      </m:rPr>
                      <a:rPr lang="el-GR" sz="1900">
                        <a:latin typeface="Cambria Math" panose="02040503050406030204" pitchFamily="18" charset="0"/>
                      </a:rPr>
                      <m:t>Δ</m:t>
                    </m:r>
                    <m:sSub>
                      <m:sSubPr>
                        <m:ctrlPr>
                          <a:rPr lang="ar-AE" sz="1900" i="1">
                            <a:latin typeface="Cambria Math" panose="02040503050406030204" pitchFamily="18" charset="0"/>
                          </a:rPr>
                        </m:ctrlPr>
                      </m:sSubPr>
                      <m:e>
                        <m:r>
                          <a:rPr lang="ar-AE" sz="1900" i="1">
                            <a:latin typeface="Cambria Math" panose="02040503050406030204" pitchFamily="18" charset="0"/>
                          </a:rPr>
                          <m:t>h</m:t>
                        </m:r>
                      </m:e>
                      <m:sub>
                        <m:r>
                          <m:rPr>
                            <m:nor/>
                          </m:rPr>
                          <a:rPr lang="en-IN" sz="1900" i="1"/>
                          <m:t>initial</m:t>
                        </m:r>
                      </m:sub>
                    </m:sSub>
                  </m:oMath>
                </a14:m>
                <a:r>
                  <a:rPr lang="en-IN" sz="1900" dirty="0"/>
                  <a:t>is the step height before CMP and </a:t>
                </a:r>
                <a14:m>
                  <m:oMath xmlns:m="http://schemas.openxmlformats.org/officeDocument/2006/math">
                    <m:r>
                      <m:rPr>
                        <m:sty m:val="p"/>
                      </m:rPr>
                      <a:rPr lang="el-GR" sz="1900">
                        <a:latin typeface="Cambria Math" panose="02040503050406030204" pitchFamily="18" charset="0"/>
                      </a:rPr>
                      <m:t>Δ</m:t>
                    </m:r>
                    <m:sSub>
                      <m:sSubPr>
                        <m:ctrlPr>
                          <a:rPr lang="ar-AE" sz="1900" i="1">
                            <a:latin typeface="Cambria Math" panose="02040503050406030204" pitchFamily="18" charset="0"/>
                          </a:rPr>
                        </m:ctrlPr>
                      </m:sSubPr>
                      <m:e>
                        <m:r>
                          <a:rPr lang="ar-AE" sz="1900" i="1">
                            <a:latin typeface="Cambria Math" panose="02040503050406030204" pitchFamily="18" charset="0"/>
                          </a:rPr>
                          <m:t>h</m:t>
                        </m:r>
                      </m:e>
                      <m:sub>
                        <m:r>
                          <m:rPr>
                            <m:nor/>
                          </m:rPr>
                          <a:rPr lang="en-IN" sz="1900" i="1"/>
                          <m:t>final</m:t>
                        </m:r>
                      </m:sub>
                    </m:sSub>
                  </m:oMath>
                </a14:m>
                <a:r>
                  <a:rPr lang="en-IN" sz="1900" dirty="0"/>
                  <a:t>is the step height after CMP.</a:t>
                </a:r>
              </a:p>
              <a:p>
                <a:pPr marL="0" indent="0">
                  <a:buNone/>
                </a:pPr>
                <a:r>
                  <a:rPr lang="en-IN" sz="1900" dirty="0"/>
                  <a:t>The </a:t>
                </a:r>
                <a:r>
                  <a:rPr lang="en-IN" sz="1900" b="1" dirty="0"/>
                  <a:t>material removal rate (MRR)</a:t>
                </a:r>
                <a:r>
                  <a:rPr lang="en-IN" sz="1900" dirty="0"/>
                  <a:t> is another important </a:t>
                </a:r>
                <a:r>
                  <a:rPr lang="en-IN" sz="1900" dirty="0" err="1"/>
                  <a:t>FoM</a:t>
                </a:r>
                <a:r>
                  <a:rPr lang="en-IN" sz="1900" dirty="0"/>
                  <a:t> related to process throughput and is described by </a:t>
                </a:r>
                <a:r>
                  <a:rPr lang="en-IN" sz="1900" b="1" dirty="0"/>
                  <a:t>Preston’s equation</a:t>
                </a:r>
                <a:r>
                  <a:rPr lang="en-IN" sz="1900" dirty="0"/>
                  <a:t>:</a:t>
                </a:r>
              </a:p>
              <a:p>
                <a:pPr marL="0" indent="0">
                  <a:buNone/>
                </a:pPr>
                <a14:m>
                  <m:oMathPara xmlns:m="http://schemas.openxmlformats.org/officeDocument/2006/math">
                    <m:oMathParaPr>
                      <m:jc m:val="centerGroup"/>
                    </m:oMathParaPr>
                    <m:oMath xmlns:m="http://schemas.openxmlformats.org/officeDocument/2006/math">
                      <m:borderBox>
                        <m:borderBoxPr>
                          <m:ctrlPr>
                            <a:rPr lang="ar-AE" sz="1900" i="1">
                              <a:latin typeface="Cambria Math" panose="02040503050406030204" pitchFamily="18" charset="0"/>
                            </a:rPr>
                          </m:ctrlPr>
                        </m:borderBoxPr>
                        <m:e>
                          <m:r>
                            <m:rPr>
                              <m:nor/>
                            </m:rPr>
                            <a:rPr lang="en-IN" sz="1900" b="0"/>
                            <m:t>MRR</m:t>
                          </m:r>
                          <m:r>
                            <a:rPr lang="en-IN" sz="1900">
                              <a:latin typeface="Cambria Math" panose="02040503050406030204" pitchFamily="18" charset="0"/>
                            </a:rPr>
                            <m:t>=</m:t>
                          </m:r>
                          <m:sSub>
                            <m:sSubPr>
                              <m:ctrlPr>
                                <a:rPr lang="ar-AE" sz="1900" i="1">
                                  <a:latin typeface="Cambria Math" panose="02040503050406030204" pitchFamily="18" charset="0"/>
                                </a:rPr>
                              </m:ctrlPr>
                            </m:sSubPr>
                            <m:e>
                              <m:r>
                                <a:rPr lang="ar-AE" sz="1900" i="1">
                                  <a:latin typeface="Cambria Math" panose="02040503050406030204" pitchFamily="18" charset="0"/>
                                </a:rPr>
                                <m:t>𝑘</m:t>
                              </m:r>
                            </m:e>
                            <m:sub>
                              <m:r>
                                <a:rPr lang="ar-AE" sz="1900" i="1">
                                  <a:latin typeface="Cambria Math" panose="02040503050406030204" pitchFamily="18" charset="0"/>
                                </a:rPr>
                                <m:t>𝑝</m:t>
                              </m:r>
                            </m:sub>
                          </m:sSub>
                          <m:r>
                            <m:rPr>
                              <m:nor/>
                            </m:rPr>
                            <a:rPr lang="ar-AE" sz="1900" i="1"/>
                            <m:t> </m:t>
                          </m:r>
                          <m:r>
                            <a:rPr lang="ar-AE" sz="1900" i="1">
                              <a:latin typeface="Cambria Math" panose="02040503050406030204" pitchFamily="18" charset="0"/>
                            </a:rPr>
                            <m:t>𝑃</m:t>
                          </m:r>
                          <m:r>
                            <m:rPr>
                              <m:nor/>
                            </m:rPr>
                            <a:rPr lang="ar-AE" sz="1900" i="1"/>
                            <m:t> </m:t>
                          </m:r>
                          <m:r>
                            <a:rPr lang="ar-AE" sz="1900" i="1">
                              <a:latin typeface="Cambria Math" panose="02040503050406030204" pitchFamily="18" charset="0"/>
                            </a:rPr>
                            <m:t>𝑉</m:t>
                          </m:r>
                        </m:e>
                      </m:borderBox>
                    </m:oMath>
                  </m:oMathPara>
                </a14:m>
                <a:endParaRPr lang="ar-AE" sz="1900" b="0" dirty="0"/>
              </a:p>
              <a:p>
                <a:pPr marL="0" indent="0">
                  <a:buNone/>
                </a:pPr>
                <a:r>
                  <a:rPr lang="en-IN" sz="1900" dirty="0"/>
                  <a:t>where </a:t>
                </a:r>
                <a14:m>
                  <m:oMath xmlns:m="http://schemas.openxmlformats.org/officeDocument/2006/math">
                    <m:r>
                      <a:rPr lang="en-IN" sz="1900" i="1">
                        <a:latin typeface="Cambria Math" panose="02040503050406030204" pitchFamily="18" charset="0"/>
                      </a:rPr>
                      <m:t>𝑃</m:t>
                    </m:r>
                  </m:oMath>
                </a14:m>
                <a:r>
                  <a:rPr lang="en-IN" sz="1900" dirty="0"/>
                  <a:t>is the applied pressure, </a:t>
                </a:r>
                <a14:m>
                  <m:oMath xmlns:m="http://schemas.openxmlformats.org/officeDocument/2006/math">
                    <m:r>
                      <a:rPr lang="en-IN" sz="1900" i="1">
                        <a:latin typeface="Cambria Math" panose="02040503050406030204" pitchFamily="18" charset="0"/>
                      </a:rPr>
                      <m:t>𝑉</m:t>
                    </m:r>
                  </m:oMath>
                </a14:m>
                <a:r>
                  <a:rPr lang="en-IN" sz="1900" dirty="0"/>
                  <a:t>is the relative pad–wafer velocity, and </a:t>
                </a:r>
                <a14:m>
                  <m:oMath xmlns:m="http://schemas.openxmlformats.org/officeDocument/2006/math">
                    <m:sSub>
                      <m:sSubPr>
                        <m:ctrlPr>
                          <a:rPr lang="ar-AE" sz="1900" i="1">
                            <a:latin typeface="Cambria Math" panose="02040503050406030204" pitchFamily="18" charset="0"/>
                          </a:rPr>
                        </m:ctrlPr>
                      </m:sSubPr>
                      <m:e>
                        <m:r>
                          <a:rPr lang="ar-AE" sz="1900" i="1">
                            <a:latin typeface="Cambria Math" panose="02040503050406030204" pitchFamily="18" charset="0"/>
                          </a:rPr>
                          <m:t>𝑘</m:t>
                        </m:r>
                      </m:e>
                      <m:sub>
                        <m:r>
                          <a:rPr lang="ar-AE" sz="1900" i="1">
                            <a:latin typeface="Cambria Math" panose="02040503050406030204" pitchFamily="18" charset="0"/>
                          </a:rPr>
                          <m:t>𝑝</m:t>
                        </m:r>
                      </m:sub>
                    </m:sSub>
                  </m:oMath>
                </a14:m>
                <a:r>
                  <a:rPr lang="en-IN" sz="1900" dirty="0"/>
                  <a:t>is the Preston coefficient incorporating slurry, pad, and material effects.</a:t>
                </a:r>
              </a:p>
              <a:p>
                <a:pPr marL="0" indent="0">
                  <a:buNone/>
                </a:pPr>
                <a:r>
                  <a:rPr lang="en-IN" sz="1900" dirty="0"/>
                  <a:t>For interconnect CMP, </a:t>
                </a:r>
                <a:r>
                  <a:rPr lang="en-IN" sz="1900" b="1" dirty="0"/>
                  <a:t>dishing</a:t>
                </a:r>
                <a:r>
                  <a:rPr lang="en-IN" sz="1900" dirty="0"/>
                  <a:t> and </a:t>
                </a:r>
                <a:r>
                  <a:rPr lang="en-IN" sz="1900" b="1" dirty="0"/>
                  <a:t>erosion</a:t>
                </a:r>
                <a:r>
                  <a:rPr lang="en-IN" sz="1900" dirty="0"/>
                  <a:t> are critical </a:t>
                </a:r>
                <a:r>
                  <a:rPr lang="en-IN" sz="1900" dirty="0" err="1"/>
                  <a:t>FoMs</a:t>
                </a:r>
                <a:r>
                  <a:rPr lang="en-IN" sz="1900" dirty="0"/>
                  <a:t>, typically expressed as the depth loss relative to the surrounding field:</a:t>
                </a:r>
              </a:p>
              <a:p>
                <a:pPr marL="0" indent="0">
                  <a:buNone/>
                </a:pPr>
                <a14:m>
                  <m:oMathPara xmlns:m="http://schemas.openxmlformats.org/officeDocument/2006/math">
                    <m:oMathParaPr>
                      <m:jc m:val="centerGroup"/>
                    </m:oMathParaPr>
                    <m:oMath xmlns:m="http://schemas.openxmlformats.org/officeDocument/2006/math">
                      <m:borderBox>
                        <m:borderBoxPr>
                          <m:ctrlPr>
                            <a:rPr lang="ar-AE" sz="1900" i="1">
                              <a:latin typeface="Cambria Math" panose="02040503050406030204" pitchFamily="18" charset="0"/>
                            </a:rPr>
                          </m:ctrlPr>
                        </m:borderBoxPr>
                        <m:e>
                          <m:r>
                            <m:rPr>
                              <m:nor/>
                            </m:rPr>
                            <a:rPr lang="en-IN" sz="1900" b="0"/>
                            <m:t>Dishing</m:t>
                          </m:r>
                          <m:r>
                            <a:rPr lang="en-IN" sz="1900">
                              <a:latin typeface="Cambria Math" panose="02040503050406030204" pitchFamily="18" charset="0"/>
                            </a:rPr>
                            <m:t>=</m:t>
                          </m:r>
                          <m:sSub>
                            <m:sSubPr>
                              <m:ctrlPr>
                                <a:rPr lang="ar-AE" sz="1900" i="1">
                                  <a:latin typeface="Cambria Math" panose="02040503050406030204" pitchFamily="18" charset="0"/>
                                </a:rPr>
                              </m:ctrlPr>
                            </m:sSubPr>
                            <m:e>
                              <m:r>
                                <a:rPr lang="ar-AE" sz="1900" i="1">
                                  <a:latin typeface="Cambria Math" panose="02040503050406030204" pitchFamily="18" charset="0"/>
                                </a:rPr>
                                <m:t>h</m:t>
                              </m:r>
                            </m:e>
                            <m:sub>
                              <m:r>
                                <m:rPr>
                                  <m:nor/>
                                </m:rPr>
                                <a:rPr lang="en-IN" sz="1900" i="1"/>
                                <m:t>field</m:t>
                              </m:r>
                            </m:sub>
                          </m:sSub>
                          <m:r>
                            <a:rPr lang="ar-AE" sz="1900">
                              <a:latin typeface="Cambria Math" panose="02040503050406030204" pitchFamily="18" charset="0"/>
                            </a:rPr>
                            <m:t>−</m:t>
                          </m:r>
                          <m:sSub>
                            <m:sSubPr>
                              <m:ctrlPr>
                                <a:rPr lang="ar-AE" sz="1900" i="1">
                                  <a:latin typeface="Cambria Math" panose="02040503050406030204" pitchFamily="18" charset="0"/>
                                </a:rPr>
                              </m:ctrlPr>
                            </m:sSubPr>
                            <m:e>
                              <m:r>
                                <a:rPr lang="ar-AE" sz="1900" i="1">
                                  <a:latin typeface="Cambria Math" panose="02040503050406030204" pitchFamily="18" charset="0"/>
                                </a:rPr>
                                <m:t>h</m:t>
                              </m:r>
                            </m:e>
                            <m:sub>
                              <m:r>
                                <m:rPr>
                                  <m:nor/>
                                </m:rPr>
                                <a:rPr lang="en-IN" sz="1900" i="1"/>
                                <m:t>metal</m:t>
                              </m:r>
                            </m:sub>
                          </m:sSub>
                        </m:e>
                      </m:borderBox>
                      <m:r>
                        <a:rPr lang="ar-AE" sz="1900">
                          <a:latin typeface="Cambria Math" panose="02040503050406030204" pitchFamily="18" charset="0"/>
                        </a:rPr>
                        <m:t> </m:t>
                      </m:r>
                      <m:borderBox>
                        <m:borderBoxPr>
                          <m:ctrlPr>
                            <a:rPr lang="ar-AE" sz="1900" i="1">
                              <a:latin typeface="Cambria Math" panose="02040503050406030204" pitchFamily="18" charset="0"/>
                            </a:rPr>
                          </m:ctrlPr>
                        </m:borderBoxPr>
                        <m:e>
                          <m:r>
                            <m:rPr>
                              <m:nor/>
                            </m:rPr>
                            <a:rPr lang="en-IN" sz="1900" i="1"/>
                            <m:t>Erosion</m:t>
                          </m:r>
                          <m:r>
                            <a:rPr lang="en-IN" sz="1900">
                              <a:latin typeface="Cambria Math" panose="02040503050406030204" pitchFamily="18" charset="0"/>
                            </a:rPr>
                            <m:t>=</m:t>
                          </m:r>
                          <m:sSub>
                            <m:sSubPr>
                              <m:ctrlPr>
                                <a:rPr lang="ar-AE" sz="1900" i="1">
                                  <a:latin typeface="Cambria Math" panose="02040503050406030204" pitchFamily="18" charset="0"/>
                                </a:rPr>
                              </m:ctrlPr>
                            </m:sSubPr>
                            <m:e>
                              <m:r>
                                <a:rPr lang="ar-AE" sz="1900" i="1">
                                  <a:latin typeface="Cambria Math" panose="02040503050406030204" pitchFamily="18" charset="0"/>
                                </a:rPr>
                                <m:t>h</m:t>
                              </m:r>
                            </m:e>
                            <m:sub>
                              <m:r>
                                <m:rPr>
                                  <m:nor/>
                                </m:rPr>
                                <a:rPr lang="en-IN" sz="1900" i="1"/>
                                <m:t>oxide</m:t>
                              </m:r>
                              <m:r>
                                <m:rPr>
                                  <m:nor/>
                                </m:rPr>
                                <a:rPr lang="en-IN" sz="1900" i="1"/>
                                <m:t>,</m:t>
                              </m:r>
                              <m:r>
                                <m:rPr>
                                  <m:nor/>
                                </m:rPr>
                                <a:rPr lang="en-IN" sz="1900" i="1"/>
                                <m:t>initial</m:t>
                              </m:r>
                            </m:sub>
                          </m:sSub>
                          <m:r>
                            <a:rPr lang="ar-AE" sz="1900">
                              <a:latin typeface="Cambria Math" panose="02040503050406030204" pitchFamily="18" charset="0"/>
                            </a:rPr>
                            <m:t>−</m:t>
                          </m:r>
                          <m:sSub>
                            <m:sSubPr>
                              <m:ctrlPr>
                                <a:rPr lang="ar-AE" sz="1900" i="1">
                                  <a:latin typeface="Cambria Math" panose="02040503050406030204" pitchFamily="18" charset="0"/>
                                </a:rPr>
                              </m:ctrlPr>
                            </m:sSubPr>
                            <m:e>
                              <m:r>
                                <a:rPr lang="ar-AE" sz="1900" i="1">
                                  <a:latin typeface="Cambria Math" panose="02040503050406030204" pitchFamily="18" charset="0"/>
                                </a:rPr>
                                <m:t>h</m:t>
                              </m:r>
                            </m:e>
                            <m:sub>
                              <m:r>
                                <m:rPr>
                                  <m:nor/>
                                </m:rPr>
                                <a:rPr lang="en-IN" sz="1900" i="1"/>
                                <m:t>oxide</m:t>
                              </m:r>
                              <m:r>
                                <m:rPr>
                                  <m:nor/>
                                </m:rPr>
                                <a:rPr lang="en-IN" sz="1900" i="1"/>
                                <m:t>,</m:t>
                              </m:r>
                              <m:r>
                                <m:rPr>
                                  <m:nor/>
                                </m:rPr>
                                <a:rPr lang="en-IN" sz="1900" i="1"/>
                                <m:t>final</m:t>
                              </m:r>
                            </m:sub>
                          </m:sSub>
                        </m:e>
                      </m:borderBox>
                    </m:oMath>
                  </m:oMathPara>
                </a14:m>
                <a:endParaRPr lang="ar-AE" sz="1900" b="0" dirty="0"/>
              </a:p>
              <a:p>
                <a:pPr marL="0" indent="0">
                  <a:buNone/>
                </a:pPr>
                <a:r>
                  <a:rPr lang="en-IN" sz="1900" dirty="0"/>
                  <a:t>Together, planarization efficiency, material removal rate, and dishing/erosion provide a compact and complete evaluation of CMP performance.</a:t>
                </a:r>
              </a:p>
              <a:p>
                <a:pPr marL="0" indent="0">
                  <a:buNone/>
                </a:pPr>
                <a:r>
                  <a:rPr lang="en-IN" sz="1900" dirty="0">
                    <a:solidFill>
                      <a:srgbClr val="FF0000"/>
                    </a:solidFill>
                  </a:rPr>
                  <a:t>A. Moretti, L. Zhang, R. Kannan, P. Hofmann, S. Iyer, and D. </a:t>
                </a:r>
                <a:r>
                  <a:rPr lang="en-IN" sz="1900" dirty="0" err="1">
                    <a:solidFill>
                      <a:srgbClr val="FF0000"/>
                    </a:solidFill>
                  </a:rPr>
                  <a:t>Novak,“Nanoparticles</a:t>
                </a:r>
                <a:r>
                  <a:rPr lang="en-IN" sz="1900" dirty="0">
                    <a:solidFill>
                      <a:srgbClr val="FF0000"/>
                    </a:solidFill>
                  </a:rPr>
                  <a:t> for chemical mechanical planarization: A review,” Nanomaterials, vol. 15, no. 17, 2025.</a:t>
                </a:r>
              </a:p>
            </p:txBody>
          </p:sp>
        </mc:Choice>
        <mc:Fallback xmlns="">
          <p:sp>
            <p:nvSpPr>
              <p:cNvPr id="3" name="Content Placeholder 2">
                <a:extLst>
                  <a:ext uri="{FF2B5EF4-FFF2-40B4-BE49-F238E27FC236}">
                    <a16:creationId xmlns:a16="http://schemas.microsoft.com/office/drawing/2014/main" id="{048FFDCD-EE58-C8F1-CF9A-A2A974D9392E}"/>
                  </a:ext>
                </a:extLst>
              </p:cNvPr>
              <p:cNvSpPr>
                <a:spLocks noGrp="1" noRot="1" noChangeAspect="1" noMove="1" noResize="1" noEditPoints="1" noAdjustHandles="1" noChangeArrowheads="1" noChangeShapeType="1" noTextEdit="1"/>
              </p:cNvSpPr>
              <p:nvPr>
                <p:ph idx="1"/>
              </p:nvPr>
            </p:nvSpPr>
            <p:spPr>
              <a:xfrm>
                <a:off x="543232" y="879704"/>
                <a:ext cx="10515600" cy="5978296"/>
              </a:xfrm>
              <a:blipFill>
                <a:blip r:embed="rId2"/>
                <a:stretch>
                  <a:fillRect l="-522" t="-1019" r="-812"/>
                </a:stretch>
              </a:blipFill>
            </p:spPr>
            <p:txBody>
              <a:bodyPr/>
              <a:lstStyle/>
              <a:p>
                <a:r>
                  <a:rPr lang="en-IN">
                    <a:noFill/>
                  </a:rPr>
                  <a:t> </a:t>
                </a:r>
              </a:p>
            </p:txBody>
          </p:sp>
        </mc:Fallback>
      </mc:AlternateContent>
    </p:spTree>
    <p:extLst>
      <p:ext uri="{BB962C8B-B14F-4D97-AF65-F5344CB8AC3E}">
        <p14:creationId xmlns:p14="http://schemas.microsoft.com/office/powerpoint/2010/main" val="862833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59079-4468-4007-42F0-53116CC56629}"/>
              </a:ext>
            </a:extLst>
          </p:cNvPr>
          <p:cNvSpPr>
            <a:spLocks noGrp="1"/>
          </p:cNvSpPr>
          <p:nvPr>
            <p:ph type="title"/>
          </p:nvPr>
        </p:nvSpPr>
        <p:spPr>
          <a:xfrm>
            <a:off x="562897" y="-136320"/>
            <a:ext cx="10515600" cy="1325563"/>
          </a:xfrm>
        </p:spPr>
        <p:txBody>
          <a:bodyPr/>
          <a:lstStyle/>
          <a:p>
            <a:r>
              <a:rPr lang="en-IN" dirty="0"/>
              <a:t>Comparison of Figure of merit </a:t>
            </a:r>
          </a:p>
        </p:txBody>
      </p:sp>
      <p:graphicFrame>
        <p:nvGraphicFramePr>
          <p:cNvPr id="4" name="Content Placeholder 3">
            <a:extLst>
              <a:ext uri="{FF2B5EF4-FFF2-40B4-BE49-F238E27FC236}">
                <a16:creationId xmlns:a16="http://schemas.microsoft.com/office/drawing/2014/main" id="{9A3FDCCD-F418-7733-9B46-9034CBC78828}"/>
              </a:ext>
            </a:extLst>
          </p:cNvPr>
          <p:cNvGraphicFramePr>
            <a:graphicFrameLocks noGrp="1"/>
          </p:cNvGraphicFramePr>
          <p:nvPr>
            <p:ph idx="1"/>
            <p:extLst>
              <p:ext uri="{D42A27DB-BD31-4B8C-83A1-F6EECF244321}">
                <p14:modId xmlns:p14="http://schemas.microsoft.com/office/powerpoint/2010/main" val="87567203"/>
              </p:ext>
            </p:extLst>
          </p:nvPr>
        </p:nvGraphicFramePr>
        <p:xfrm>
          <a:off x="540774" y="881727"/>
          <a:ext cx="10537723" cy="5242560"/>
        </p:xfrm>
        <a:graphic>
          <a:graphicData uri="http://schemas.openxmlformats.org/drawingml/2006/table">
            <a:tbl>
              <a:tblPr firstRow="1" bandRow="1">
                <a:tableStyleId>{5C22544A-7EE6-4342-B048-85BDC9FD1C3A}</a:tableStyleId>
              </a:tblPr>
              <a:tblGrid>
                <a:gridCol w="1573161">
                  <a:extLst>
                    <a:ext uri="{9D8B030D-6E8A-4147-A177-3AD203B41FA5}">
                      <a16:colId xmlns:a16="http://schemas.microsoft.com/office/drawing/2014/main" val="4275059043"/>
                    </a:ext>
                  </a:extLst>
                </a:gridCol>
                <a:gridCol w="4660490">
                  <a:extLst>
                    <a:ext uri="{9D8B030D-6E8A-4147-A177-3AD203B41FA5}">
                      <a16:colId xmlns:a16="http://schemas.microsoft.com/office/drawing/2014/main" val="113966499"/>
                    </a:ext>
                  </a:extLst>
                </a:gridCol>
                <a:gridCol w="1675172">
                  <a:extLst>
                    <a:ext uri="{9D8B030D-6E8A-4147-A177-3AD203B41FA5}">
                      <a16:colId xmlns:a16="http://schemas.microsoft.com/office/drawing/2014/main" val="4012992590"/>
                    </a:ext>
                  </a:extLst>
                </a:gridCol>
                <a:gridCol w="2628900">
                  <a:extLst>
                    <a:ext uri="{9D8B030D-6E8A-4147-A177-3AD203B41FA5}">
                      <a16:colId xmlns:a16="http://schemas.microsoft.com/office/drawing/2014/main" val="4283564280"/>
                    </a:ext>
                  </a:extLst>
                </a:gridCol>
              </a:tblGrid>
              <a:tr h="370840">
                <a:tc>
                  <a:txBody>
                    <a:bodyPr/>
                    <a:lstStyle/>
                    <a:p>
                      <a:r>
                        <a:rPr lang="en-IN" sz="1400" dirty="0">
                          <a:solidFill>
                            <a:schemeClr val="bg1"/>
                          </a:solidFill>
                        </a:rPr>
                        <a:t>SL NO</a:t>
                      </a:r>
                    </a:p>
                  </a:txBody>
                  <a:tcPr/>
                </a:tc>
                <a:tc>
                  <a:txBody>
                    <a:bodyPr/>
                    <a:lstStyle/>
                    <a:p>
                      <a:r>
                        <a:rPr lang="en-IN" sz="1400" dirty="0"/>
                        <a:t>Paper/Journal Name</a:t>
                      </a:r>
                    </a:p>
                  </a:txBody>
                  <a:tcPr/>
                </a:tc>
                <a:tc>
                  <a:txBody>
                    <a:bodyPr/>
                    <a:lstStyle/>
                    <a:p>
                      <a:r>
                        <a:rPr lang="en-IN" sz="1400" dirty="0"/>
                        <a:t>Planarization efficiency </a:t>
                      </a:r>
                    </a:p>
                  </a:txBody>
                  <a:tcPr/>
                </a:tc>
                <a:tc>
                  <a:txBody>
                    <a:bodyPr/>
                    <a:lstStyle/>
                    <a:p>
                      <a:r>
                        <a:rPr lang="en-IN" sz="1400" dirty="0"/>
                        <a:t>Key reason </a:t>
                      </a:r>
                    </a:p>
                  </a:txBody>
                  <a:tcPr/>
                </a:tc>
                <a:extLst>
                  <a:ext uri="{0D108BD9-81ED-4DB2-BD59-A6C34878D82A}">
                    <a16:rowId xmlns:a16="http://schemas.microsoft.com/office/drawing/2014/main" val="1633051727"/>
                  </a:ext>
                </a:extLst>
              </a:tr>
              <a:tr h="370840">
                <a:tc>
                  <a:txBody>
                    <a:bodyPr/>
                    <a:lstStyle/>
                    <a:p>
                      <a:r>
                        <a:rPr lang="en-IN" sz="1400" dirty="0"/>
                        <a:t>1</a:t>
                      </a:r>
                    </a:p>
                  </a:txBody>
                  <a:tcPr/>
                </a:tc>
                <a:tc>
                  <a:txBody>
                    <a:bodyPr/>
                    <a:lstStyle/>
                    <a:p>
                      <a:r>
                        <a:rPr lang="en-US" sz="1400" dirty="0"/>
                        <a:t>[8]S. B. K. </a:t>
                      </a:r>
                      <a:r>
                        <a:rPr lang="en-US" sz="1400" dirty="0" err="1"/>
                        <a:t>Vrudhula</a:t>
                      </a:r>
                      <a:r>
                        <a:rPr lang="en-US" sz="1400" dirty="0"/>
                        <a:t> and S. Sapatnekar,</a:t>
                      </a:r>
                      <a:br>
                        <a:rPr lang="en-US" sz="1400" dirty="0"/>
                      </a:br>
                      <a:r>
                        <a:rPr lang="en-US" sz="1400" dirty="0"/>
                        <a:t>“Statistical and machine learning methods for semiconductor </a:t>
                      </a:r>
                      <a:r>
                        <a:rPr lang="en-US" sz="1400" dirty="0" err="1"/>
                        <a:t>manufacturing,”IEEE</a:t>
                      </a:r>
                      <a:r>
                        <a:rPr lang="en-US" sz="1400" dirty="0"/>
                        <a:t> Transactions on Semiconductor Manufacturing, vol. 34, no. 3, pp. 321–335, Aug. 2021.</a:t>
                      </a:r>
                      <a:endParaRPr lang="en-IN" sz="1400" dirty="0"/>
                    </a:p>
                  </a:txBody>
                  <a:tcPr/>
                </a:tc>
                <a:tc>
                  <a:txBody>
                    <a:bodyPr/>
                    <a:lstStyle/>
                    <a:p>
                      <a:r>
                        <a:rPr lang="en-IN" sz="1400" dirty="0"/>
                        <a:t>83.14%</a:t>
                      </a:r>
                    </a:p>
                  </a:txBody>
                  <a:tcPr/>
                </a:tc>
                <a:tc>
                  <a:txBody>
                    <a:bodyPr/>
                    <a:lstStyle/>
                    <a:p>
                      <a:r>
                        <a:rPr lang="en-US" sz="1400" dirty="0"/>
                        <a:t>Strong chemical softening, good selectivity</a:t>
                      </a:r>
                      <a:endParaRPr lang="en-IN" sz="1400" dirty="0"/>
                    </a:p>
                  </a:txBody>
                  <a:tcPr/>
                </a:tc>
                <a:extLst>
                  <a:ext uri="{0D108BD9-81ED-4DB2-BD59-A6C34878D82A}">
                    <a16:rowId xmlns:a16="http://schemas.microsoft.com/office/drawing/2014/main" val="2417465543"/>
                  </a:ext>
                </a:extLst>
              </a:tr>
              <a:tr h="370840">
                <a:tc>
                  <a:txBody>
                    <a:bodyPr/>
                    <a:lstStyle/>
                    <a:p>
                      <a:r>
                        <a:rPr lang="en-IN" sz="1400" dirty="0"/>
                        <a:t>2</a:t>
                      </a:r>
                    </a:p>
                  </a:txBody>
                  <a:tcPr/>
                </a:tc>
                <a:tc>
                  <a:txBody>
                    <a:bodyPr/>
                    <a:lstStyle/>
                    <a:p>
                      <a:r>
                        <a:rPr lang="en-US" sz="1400" dirty="0"/>
                        <a:t>[9]S. Luo, D. A. Dornfeld, and F. </a:t>
                      </a:r>
                      <a:r>
                        <a:rPr lang="en-US" sz="1400" dirty="0" err="1"/>
                        <a:t>Pei,“Material</a:t>
                      </a:r>
                      <a:r>
                        <a:rPr lang="en-US" sz="1400" dirty="0"/>
                        <a:t> removal mechanism in chemical mechanical planarization: From wafer to molecular </a:t>
                      </a:r>
                      <a:r>
                        <a:rPr lang="en-US" sz="1400" dirty="0" err="1"/>
                        <a:t>scale,”IEEE</a:t>
                      </a:r>
                      <a:r>
                        <a:rPr lang="en-US" sz="1400" dirty="0"/>
                        <a:t> Transactions on Semiconductor </a:t>
                      </a:r>
                      <a:r>
                        <a:rPr lang="en-US" sz="1400" dirty="0" err="1"/>
                        <a:t>Manufacturing,vol</a:t>
                      </a:r>
                      <a:r>
                        <a:rPr lang="en-US" sz="1400" dirty="0"/>
                        <a:t>. 14, no. 2, pp. 112–133, May 2001.</a:t>
                      </a:r>
                      <a:endParaRPr lang="en-IN" sz="1400" dirty="0"/>
                    </a:p>
                  </a:txBody>
                  <a:tcPr/>
                </a:tc>
                <a:tc>
                  <a:txBody>
                    <a:bodyPr/>
                    <a:lstStyle/>
                    <a:p>
                      <a:r>
                        <a:rPr lang="en-IN" sz="1400" dirty="0"/>
                        <a:t>79%</a:t>
                      </a:r>
                    </a:p>
                  </a:txBody>
                  <a:tcPr/>
                </a:tc>
                <a:tc>
                  <a:txBody>
                    <a:bodyPr/>
                    <a:lstStyle/>
                    <a:p>
                      <a:r>
                        <a:rPr lang="en-IN" sz="1400" dirty="0"/>
                        <a:t>Dishing, corrosion, electrochemical effects</a:t>
                      </a:r>
                    </a:p>
                  </a:txBody>
                  <a:tcPr/>
                </a:tc>
                <a:extLst>
                  <a:ext uri="{0D108BD9-81ED-4DB2-BD59-A6C34878D82A}">
                    <a16:rowId xmlns:a16="http://schemas.microsoft.com/office/drawing/2014/main" val="2974943163"/>
                  </a:ext>
                </a:extLst>
              </a:tr>
              <a:tr h="370840">
                <a:tc>
                  <a:txBody>
                    <a:bodyPr/>
                    <a:lstStyle/>
                    <a:p>
                      <a:r>
                        <a:rPr lang="en-IN" sz="1400" dirty="0"/>
                        <a:t>3</a:t>
                      </a:r>
                    </a:p>
                  </a:txBody>
                  <a:tcPr/>
                </a:tc>
                <a:tc>
                  <a:txBody>
                    <a:bodyPr/>
                    <a:lstStyle/>
                    <a:p>
                      <a:r>
                        <a:rPr lang="en-US" sz="1400" dirty="0"/>
                        <a:t>[10]S. Luo, D. A. Dornfeld, and F. </a:t>
                      </a:r>
                      <a:r>
                        <a:rPr lang="en-US" sz="1400" dirty="0" err="1"/>
                        <a:t>Pei,“Mechanisms</a:t>
                      </a:r>
                      <a:r>
                        <a:rPr lang="en-US" sz="1400" dirty="0"/>
                        <a:t> of defect generation in chemical </a:t>
                      </a:r>
                      <a:r>
                        <a:rPr lang="en-US" sz="1400" dirty="0" err="1"/>
                        <a:t>mechanicalpolishing</a:t>
                      </a:r>
                      <a:r>
                        <a:rPr lang="en-US" sz="1400" dirty="0"/>
                        <a:t>,”Wear, vol. 257, nos. 9–10, pp. 1005–1013, 2004.</a:t>
                      </a:r>
                      <a:endParaRPr lang="en-IN" sz="1400" dirty="0"/>
                    </a:p>
                  </a:txBody>
                  <a:tcPr/>
                </a:tc>
                <a:tc>
                  <a:txBody>
                    <a:bodyPr/>
                    <a:lstStyle/>
                    <a:p>
                      <a:r>
                        <a:rPr lang="en-IN" sz="1400" dirty="0"/>
                        <a:t>81.5%</a:t>
                      </a:r>
                    </a:p>
                  </a:txBody>
                  <a:tcPr/>
                </a:tc>
                <a:tc>
                  <a:txBody>
                    <a:bodyPr/>
                    <a:lstStyle/>
                    <a:p>
                      <a:r>
                        <a:rPr lang="en-US" sz="1400" dirty="0"/>
                        <a:t>High selectivity (oxide vs nitride) </a:t>
                      </a:r>
                      <a:endParaRPr lang="en-IN" sz="1400" dirty="0"/>
                    </a:p>
                  </a:txBody>
                  <a:tcPr/>
                </a:tc>
                <a:extLst>
                  <a:ext uri="{0D108BD9-81ED-4DB2-BD59-A6C34878D82A}">
                    <a16:rowId xmlns:a16="http://schemas.microsoft.com/office/drawing/2014/main" val="1878963862"/>
                  </a:ext>
                </a:extLst>
              </a:tr>
              <a:tr h="370840">
                <a:tc>
                  <a:txBody>
                    <a:bodyPr/>
                    <a:lstStyle/>
                    <a:p>
                      <a:r>
                        <a:rPr lang="en-IN" sz="1400" dirty="0"/>
                        <a:t>4</a:t>
                      </a:r>
                    </a:p>
                  </a:txBody>
                  <a:tcPr/>
                </a:tc>
                <a:tc>
                  <a:txBody>
                    <a:bodyPr/>
                    <a:lstStyle/>
                    <a:p>
                      <a:r>
                        <a:rPr lang="en-IN" sz="1400" dirty="0"/>
                        <a:t>[11]H. </a:t>
                      </a:r>
                      <a:r>
                        <a:rPr lang="en-IN" sz="1400" dirty="0" err="1"/>
                        <a:t>Bellahsene</a:t>
                      </a:r>
                      <a:r>
                        <a:rPr lang="en-IN" sz="1400" dirty="0"/>
                        <a:t>, S. Sene, G. Félix, J. Larionova, M. Ferrari, and Y. </a:t>
                      </a:r>
                      <a:r>
                        <a:rPr lang="en-IN" sz="1400" dirty="0" err="1"/>
                        <a:t>Guari,“Nanoparticles</a:t>
                      </a:r>
                      <a:r>
                        <a:rPr lang="en-IN" sz="1400" dirty="0"/>
                        <a:t> for chemical mechanical planarization: A </a:t>
                      </a:r>
                      <a:r>
                        <a:rPr lang="en-IN" sz="1400" dirty="0" err="1"/>
                        <a:t>review,”Nanomaterials</a:t>
                      </a:r>
                      <a:r>
                        <a:rPr lang="en-IN" sz="1400" dirty="0"/>
                        <a:t>, vol. 13, no. 17, Article 2456, 2023.</a:t>
                      </a:r>
                    </a:p>
                  </a:txBody>
                  <a:tcPr/>
                </a:tc>
                <a:tc>
                  <a:txBody>
                    <a:bodyPr/>
                    <a:lstStyle/>
                    <a:p>
                      <a:r>
                        <a:rPr lang="en-IN" sz="1400" dirty="0"/>
                        <a:t>77.67%</a:t>
                      </a:r>
                    </a:p>
                  </a:txBody>
                  <a:tcPr/>
                </a:tc>
                <a:tc>
                  <a:txBody>
                    <a:bodyPr/>
                    <a:lstStyle/>
                    <a:p>
                      <a:r>
                        <a:rPr lang="en-IN" sz="1400" dirty="0"/>
                        <a:t>Chemical + mechanical synergy</a:t>
                      </a:r>
                    </a:p>
                  </a:txBody>
                  <a:tcPr/>
                </a:tc>
                <a:extLst>
                  <a:ext uri="{0D108BD9-81ED-4DB2-BD59-A6C34878D82A}">
                    <a16:rowId xmlns:a16="http://schemas.microsoft.com/office/drawing/2014/main" val="2191739962"/>
                  </a:ext>
                </a:extLst>
              </a:tr>
              <a:tr h="370840">
                <a:tc>
                  <a:txBody>
                    <a:bodyPr/>
                    <a:lstStyle/>
                    <a:p>
                      <a:r>
                        <a:rPr lang="en-IN" sz="1400" dirty="0"/>
                        <a:t>5</a:t>
                      </a:r>
                    </a:p>
                  </a:txBody>
                  <a:tcPr/>
                </a:tc>
                <a:tc>
                  <a:txBody>
                    <a:bodyPr/>
                    <a:lstStyle/>
                    <a:p>
                      <a:r>
                        <a:rPr lang="en-US" sz="1400" dirty="0"/>
                        <a:t>[12]B. H. </a:t>
                      </a:r>
                      <a:r>
                        <a:rPr lang="en-US" sz="1400" dirty="0" err="1"/>
                        <a:t>Cook,“Chemical</a:t>
                      </a:r>
                      <a:r>
                        <a:rPr lang="en-US" sz="1400" dirty="0"/>
                        <a:t> processes in chemical mechanical </a:t>
                      </a:r>
                      <a:r>
                        <a:rPr lang="en-US" sz="1400" dirty="0" err="1"/>
                        <a:t>polishing,”Journal</a:t>
                      </a:r>
                      <a:r>
                        <a:rPr lang="en-US" sz="1400" dirty="0"/>
                        <a:t> of The Electrochemical </a:t>
                      </a:r>
                      <a:r>
                        <a:rPr lang="en-US" sz="1400" dirty="0" err="1"/>
                        <a:t>Society,vol</a:t>
                      </a:r>
                      <a:r>
                        <a:rPr lang="en-US" sz="1400" dirty="0"/>
                        <a:t>. 137, no. 6, pp. 1937–1944, 1990.</a:t>
                      </a:r>
                      <a:endParaRPr lang="en-IN" sz="1400" dirty="0"/>
                    </a:p>
                  </a:txBody>
                  <a:tcPr/>
                </a:tc>
                <a:tc>
                  <a:txBody>
                    <a:bodyPr/>
                    <a:lstStyle/>
                    <a:p>
                      <a:r>
                        <a:rPr lang="en-IN" sz="1400" dirty="0"/>
                        <a:t>72%</a:t>
                      </a:r>
                    </a:p>
                  </a:txBody>
                  <a:tcPr/>
                </a:tc>
                <a:tc>
                  <a:txBody>
                    <a:bodyPr/>
                    <a:lstStyle/>
                    <a:p>
                      <a:r>
                        <a:rPr lang="en-IN" sz="1400" dirty="0"/>
                        <a:t>Stable but less selective</a:t>
                      </a:r>
                    </a:p>
                  </a:txBody>
                  <a:tcPr/>
                </a:tc>
                <a:extLst>
                  <a:ext uri="{0D108BD9-81ED-4DB2-BD59-A6C34878D82A}">
                    <a16:rowId xmlns:a16="http://schemas.microsoft.com/office/drawing/2014/main" val="3286937167"/>
                  </a:ext>
                </a:extLst>
              </a:tr>
            </a:tbl>
          </a:graphicData>
        </a:graphic>
      </p:graphicFrame>
    </p:spTree>
    <p:extLst>
      <p:ext uri="{BB962C8B-B14F-4D97-AF65-F5344CB8AC3E}">
        <p14:creationId xmlns:p14="http://schemas.microsoft.com/office/powerpoint/2010/main" val="20606382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4907-A979-0B92-26A4-3AB642487B37}"/>
              </a:ext>
            </a:extLst>
          </p:cNvPr>
          <p:cNvSpPr>
            <a:spLocks noGrp="1"/>
          </p:cNvSpPr>
          <p:nvPr>
            <p:ph type="title"/>
          </p:nvPr>
        </p:nvSpPr>
        <p:spPr>
          <a:xfrm>
            <a:off x="749709" y="217641"/>
            <a:ext cx="10515600" cy="1325563"/>
          </a:xfrm>
        </p:spPr>
        <p:txBody>
          <a:bodyPr>
            <a:normAutofit fontScale="90000"/>
          </a:bodyPr>
          <a:lstStyle/>
          <a:p>
            <a:r>
              <a:rPr lang="en-IN" dirty="0"/>
              <a:t>Simulation of 2D Chemical Mechanical Polishing (CMP) Planarization</a:t>
            </a:r>
            <a:br>
              <a:rPr lang="en-IN" dirty="0"/>
            </a:b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E41566-AE32-2A45-D6B2-37FCEB2E3A04}"/>
                  </a:ext>
                </a:extLst>
              </p:cNvPr>
              <p:cNvSpPr>
                <a:spLocks noGrp="1"/>
              </p:cNvSpPr>
              <p:nvPr>
                <p:ph idx="1"/>
              </p:nvPr>
            </p:nvSpPr>
            <p:spPr>
              <a:xfrm>
                <a:off x="838200" y="1307691"/>
                <a:ext cx="11003280" cy="5550310"/>
              </a:xfrm>
            </p:spPr>
            <p:txBody>
              <a:bodyPr>
                <a:noAutofit/>
              </a:bodyPr>
              <a:lstStyle/>
              <a:p>
                <a:pPr marL="0" indent="0">
                  <a:buNone/>
                </a:pPr>
                <a:r>
                  <a:rPr lang="en-IN" sz="2000" dirty="0"/>
                  <a:t>The 2D CMP planarization simulation is performed using </a:t>
                </a:r>
                <a:r>
                  <a:rPr lang="en-IN" sz="2000" b="1" dirty="0"/>
                  <a:t>Synopsys </a:t>
                </a:r>
                <a:r>
                  <a:rPr lang="en-IN" sz="2000" b="1" dirty="0" err="1"/>
                  <a:t>Sentaurus</a:t>
                </a:r>
                <a:r>
                  <a:rPr lang="en-IN" sz="2000" b="1" dirty="0"/>
                  <a:t> TCAD</a:t>
                </a:r>
                <a:r>
                  <a:rPr lang="en-IN" sz="2000" dirty="0"/>
                  <a:t>, specifically the </a:t>
                </a:r>
                <a:r>
                  <a:rPr lang="en-IN" sz="2000" b="1" dirty="0" err="1"/>
                  <a:t>Sentaurus</a:t>
                </a:r>
                <a:r>
                  <a:rPr lang="en-IN" sz="2000" b="1" dirty="0"/>
                  <a:t> Process</a:t>
                </a:r>
                <a:r>
                  <a:rPr lang="en-IN" sz="2000" dirty="0"/>
                  <a:t> module, which enables process-level </a:t>
                </a:r>
                <a:r>
                  <a:rPr lang="en-IN" sz="2000" dirty="0" err="1"/>
                  <a:t>modeling</a:t>
                </a:r>
                <a:r>
                  <a:rPr lang="en-IN" sz="2000" dirty="0"/>
                  <a:t> of semiconductor fabrication steps. In this simulation, CMP is implemented using a </a:t>
                </a:r>
                <a:r>
                  <a:rPr lang="en-IN" sz="2000" b="1" dirty="0"/>
                  <a:t>geometric planarization approach</a:t>
                </a:r>
                <a:r>
                  <a:rPr lang="en-IN" sz="2000" dirty="0"/>
                  <a:t>, consistent with the structure manipulation commands in your deck.</a:t>
                </a:r>
              </a:p>
              <a:p>
                <a:pPr marL="0" indent="0">
                  <a:buNone/>
                </a:pPr>
                <a:r>
                  <a:rPr lang="en-IN" sz="2000" dirty="0"/>
                  <a:t>First, a two-dimensional simulation domain is defined by specifying non-uniform mesh lines in the vertical and lateral directions. Fine mesh spacing is used near the wafer surface to accurately capture trench geometry and surface evolution, while coarser spacing is applied deeper in the substrate to reduce computational cost. A silicon region is then initialized with a uniform phosphorus concentration of </a:t>
                </a:r>
                <a14:m>
                  <m:oMath xmlns:m="http://schemas.openxmlformats.org/officeDocument/2006/math">
                    <m:r>
                      <a:rPr lang="en-IN" sz="2000">
                        <a:latin typeface="Cambria Math" panose="02040503050406030204" pitchFamily="18" charset="0"/>
                      </a:rPr>
                      <m:t>1</m:t>
                    </m:r>
                    <m:r>
                      <a:rPr lang="en-IN" sz="2000">
                        <a:latin typeface="Cambria Math" panose="02040503050406030204" pitchFamily="18" charset="0"/>
                      </a:rPr>
                      <m:t>×</m:t>
                    </m:r>
                    <m:sSup>
                      <m:sSupPr>
                        <m:ctrlPr>
                          <a:rPr lang="ar-AE" sz="2000" i="1">
                            <a:latin typeface="Cambria Math" panose="02040503050406030204" pitchFamily="18" charset="0"/>
                          </a:rPr>
                        </m:ctrlPr>
                      </m:sSupPr>
                      <m:e>
                        <m:r>
                          <a:rPr lang="ar-AE" sz="2000">
                            <a:latin typeface="Cambria Math" panose="02040503050406030204" pitchFamily="18" charset="0"/>
                          </a:rPr>
                          <m:t>10</m:t>
                        </m:r>
                      </m:e>
                      <m:sup>
                        <m:r>
                          <a:rPr lang="ar-AE" sz="2000">
                            <a:latin typeface="Cambria Math" panose="02040503050406030204" pitchFamily="18" charset="0"/>
                          </a:rPr>
                          <m:t>15</m:t>
                        </m:r>
                      </m:sup>
                    </m:sSup>
                    <m:r>
                      <m:rPr>
                        <m:nor/>
                      </m:rPr>
                      <a:rPr lang="ar-AE" sz="2000" i="1"/>
                      <m:t> </m:t>
                    </m:r>
                    <m:sSup>
                      <m:sSupPr>
                        <m:ctrlPr>
                          <a:rPr lang="ar-AE" sz="2000" i="1">
                            <a:latin typeface="Cambria Math" panose="02040503050406030204" pitchFamily="18" charset="0"/>
                          </a:rPr>
                        </m:ctrlPr>
                      </m:sSupPr>
                      <m:e>
                        <m:r>
                          <m:rPr>
                            <m:nor/>
                          </m:rPr>
                          <a:rPr lang="en-IN" sz="2000" i="1"/>
                          <m:t>cm</m:t>
                        </m:r>
                      </m:e>
                      <m:sup>
                        <m:r>
                          <a:rPr lang="ar-AE" sz="2000">
                            <a:latin typeface="Cambria Math" panose="02040503050406030204" pitchFamily="18" charset="0"/>
                          </a:rPr>
                          <m:t>−</m:t>
                        </m:r>
                        <m:r>
                          <a:rPr lang="ar-AE" sz="2000">
                            <a:latin typeface="Cambria Math" panose="02040503050406030204" pitchFamily="18" charset="0"/>
                          </a:rPr>
                          <m:t>3</m:t>
                        </m:r>
                      </m:sup>
                    </m:sSup>
                  </m:oMath>
                </a14:m>
                <a:r>
                  <a:rPr lang="ar-AE" sz="2000" dirty="0"/>
                  <a:t>, </a:t>
                </a:r>
                <a:r>
                  <a:rPr lang="en-IN" sz="2000" dirty="0"/>
                  <a:t>representing a lightly doped n-type substrate.</a:t>
                </a:r>
              </a:p>
              <a:p>
                <a:pPr marL="0" indent="0">
                  <a:buNone/>
                </a:pPr>
                <a:r>
                  <a:rPr lang="en-IN" sz="2000" dirty="0"/>
                  <a:t>A test topography is created by defining a lithographic mask and performing an anisotropic silicon etch. This step forms a vertical trench with a depth of 0.4 µm, mimicking structures such as shallow trench isolation. Following trench formation, an isotropic oxide deposition step is carried out. The oxide fills the trench and also forms an overburden above the wafer surface, resulting in a non-planar topography prior to CMP. The structure at this stage is saved as the pre-CMP reference.</a:t>
                </a:r>
              </a:p>
              <a:p>
                <a:pPr marL="0" indent="0">
                  <a:buNone/>
                </a:pPr>
                <a:endParaRPr lang="en-IN" sz="2000" dirty="0"/>
              </a:p>
              <a:p>
                <a:pPr marL="0" indent="0">
                  <a:buNone/>
                </a:pPr>
                <a:r>
                  <a:rPr lang="en-IN" sz="2000" dirty="0">
                    <a:solidFill>
                      <a:srgbClr val="FF0000"/>
                    </a:solidFill>
                  </a:rPr>
                  <a:t>K.-T. Yeh and H.-Y. Tsai, “Mechanically </a:t>
                </a:r>
                <a:r>
                  <a:rPr lang="en-IN" sz="2000" dirty="0" err="1">
                    <a:solidFill>
                      <a:srgbClr val="FF0000"/>
                    </a:solidFill>
                  </a:rPr>
                  <a:t>modeling</a:t>
                </a:r>
                <a:r>
                  <a:rPr lang="en-IN" sz="2000" dirty="0">
                    <a:solidFill>
                      <a:srgbClr val="FF0000"/>
                    </a:solidFill>
                  </a:rPr>
                  <a:t> chemical mechanical planarization from wafer to molecular scales: A review and discussion of future direction,” Journal of Mechanics, vol. 40, pp. 769–773, Dec. 2024, </a:t>
                </a:r>
                <a:r>
                  <a:rPr lang="en-IN" sz="2000" dirty="0" err="1">
                    <a:solidFill>
                      <a:srgbClr val="FF0000"/>
                    </a:solidFill>
                  </a:rPr>
                  <a:t>doi</a:t>
                </a:r>
                <a:r>
                  <a:rPr lang="en-IN" sz="2000" dirty="0">
                    <a:solidFill>
                      <a:srgbClr val="FF0000"/>
                    </a:solidFill>
                  </a:rPr>
                  <a:t>: 10.1093/</a:t>
                </a:r>
                <a:r>
                  <a:rPr lang="en-IN" sz="2000" dirty="0" err="1">
                    <a:solidFill>
                      <a:srgbClr val="FF0000"/>
                    </a:solidFill>
                  </a:rPr>
                  <a:t>jom</a:t>
                </a:r>
                <a:r>
                  <a:rPr lang="en-IN" sz="2000" dirty="0">
                    <a:solidFill>
                      <a:srgbClr val="FF0000"/>
                    </a:solidFill>
                  </a:rPr>
                  <a:t>/ufae055.</a:t>
                </a:r>
              </a:p>
              <a:p>
                <a:pPr marL="0" indent="0">
                  <a:buNone/>
                </a:pPr>
                <a:endParaRPr lang="en-IN" sz="2000" dirty="0"/>
              </a:p>
            </p:txBody>
          </p:sp>
        </mc:Choice>
        <mc:Fallback xmlns="">
          <p:sp>
            <p:nvSpPr>
              <p:cNvPr id="3" name="Content Placeholder 2">
                <a:extLst>
                  <a:ext uri="{FF2B5EF4-FFF2-40B4-BE49-F238E27FC236}">
                    <a16:creationId xmlns:a16="http://schemas.microsoft.com/office/drawing/2014/main" id="{93E41566-AE32-2A45-D6B2-37FCEB2E3A04}"/>
                  </a:ext>
                </a:extLst>
              </p:cNvPr>
              <p:cNvSpPr>
                <a:spLocks noGrp="1" noRot="1" noChangeAspect="1" noMove="1" noResize="1" noEditPoints="1" noAdjustHandles="1" noChangeArrowheads="1" noChangeShapeType="1" noTextEdit="1"/>
              </p:cNvSpPr>
              <p:nvPr>
                <p:ph idx="1"/>
              </p:nvPr>
            </p:nvSpPr>
            <p:spPr>
              <a:xfrm>
                <a:off x="838200" y="1307691"/>
                <a:ext cx="11003280" cy="5550310"/>
              </a:xfrm>
              <a:blipFill>
                <a:blip r:embed="rId2"/>
                <a:stretch>
                  <a:fillRect l="-609" t="-1099" r="-942" b="-1978"/>
                </a:stretch>
              </a:blipFill>
            </p:spPr>
            <p:txBody>
              <a:bodyPr/>
              <a:lstStyle/>
              <a:p>
                <a:r>
                  <a:rPr lang="en-IN">
                    <a:noFill/>
                  </a:rPr>
                  <a:t> </a:t>
                </a:r>
              </a:p>
            </p:txBody>
          </p:sp>
        </mc:Fallback>
      </mc:AlternateContent>
    </p:spTree>
    <p:extLst>
      <p:ext uri="{BB962C8B-B14F-4D97-AF65-F5344CB8AC3E}">
        <p14:creationId xmlns:p14="http://schemas.microsoft.com/office/powerpoint/2010/main" val="2689139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587388-AC9A-8312-AFA5-1D4511DDC702}"/>
              </a:ext>
            </a:extLst>
          </p:cNvPr>
          <p:cNvSpPr>
            <a:spLocks noGrp="1"/>
          </p:cNvSpPr>
          <p:nvPr>
            <p:ph idx="1"/>
          </p:nvPr>
        </p:nvSpPr>
        <p:spPr>
          <a:xfrm>
            <a:off x="838200" y="147484"/>
            <a:ext cx="10515600" cy="6289892"/>
          </a:xfrm>
        </p:spPr>
        <p:txBody>
          <a:bodyPr>
            <a:normAutofit fontScale="92500" lnSpcReduction="10000"/>
          </a:bodyPr>
          <a:lstStyle/>
          <a:p>
            <a:pPr marL="0" indent="0">
              <a:buNone/>
            </a:pPr>
            <a:r>
              <a:rPr lang="en-IN" sz="2000" dirty="0"/>
              <a:t>CMP planarization is </a:t>
            </a:r>
            <a:r>
              <a:rPr lang="en-IN" sz="2000" dirty="0" err="1"/>
              <a:t>modeled</a:t>
            </a:r>
            <a:r>
              <a:rPr lang="en-IN" sz="2000" dirty="0"/>
              <a:t> using the transform cut command, which removes material above a specified reference plane across the entire lateral domain. This operation emulates an ideal CMP process by eliminating the oxide overburden while retaining oxide inside the trench. Although this approach does not explicitly model slurry chemistry, pad properties, or pressure distribution, it effectively captures the final planarized geometry. The post-CMP structure is then saved for comparison and analysis.</a:t>
            </a:r>
          </a:p>
          <a:p>
            <a:pPr marL="0" indent="0">
              <a:buNone/>
            </a:pPr>
            <a:r>
              <a:rPr lang="en-IN" sz="2000" dirty="0"/>
              <a:t>To evaluate planarization performance, one-dimensional vertical profiles are extracted at selected lateral positions using print.1d. A cut taken outside the trench represents the field region, while a cut through the </a:t>
            </a:r>
            <a:r>
              <a:rPr lang="en-IN" sz="2000" dirty="0" err="1"/>
              <a:t>center</a:t>
            </a:r>
            <a:r>
              <a:rPr lang="en-IN" sz="2000" dirty="0"/>
              <a:t> of the trench represents the filled region. By comparing these profiles before and after CMP, the remaining step height can be assessed, and planarization efficiency can be inferred. In this simulation, the near-zero height difference after the transform cut indicates ideal planarization.</a:t>
            </a:r>
          </a:p>
          <a:p>
            <a:pPr marL="0" indent="0">
              <a:buNone/>
            </a:pPr>
            <a:r>
              <a:rPr lang="en-IN" sz="2000" dirty="0"/>
              <a:t>Overall, this </a:t>
            </a:r>
            <a:r>
              <a:rPr lang="en-IN" sz="2000" dirty="0" err="1"/>
              <a:t>Sentaurus</a:t>
            </a:r>
            <a:r>
              <a:rPr lang="en-IN" sz="2000" dirty="0"/>
              <a:t> TCAD–based 2D CMP simulation provides a simplified yet effective means to study post-CMP geometry, trench fill quality, and planarization efficiency. While it does not capture physical CMP effects such as dishing, erosion, or slurry–pad interactions, it is well suited for structural verification and comparative planarization studies in early process development.</a:t>
            </a:r>
          </a:p>
          <a:p>
            <a:pPr marL="0" indent="0">
              <a:buNone/>
            </a:pPr>
            <a:r>
              <a:rPr lang="en-US" sz="2000" b="1" dirty="0"/>
              <a:t>Tool Used:- Synopsys </a:t>
            </a:r>
            <a:r>
              <a:rPr lang="en-US" sz="2000" b="1" dirty="0" err="1"/>
              <a:t>Sentaurus</a:t>
            </a:r>
            <a:r>
              <a:rPr lang="en-US" sz="2000" b="1" dirty="0"/>
              <a:t> TCAD – </a:t>
            </a:r>
            <a:r>
              <a:rPr lang="en-US" sz="2000" b="1" dirty="0" err="1"/>
              <a:t>SProcess</a:t>
            </a:r>
            <a:r>
              <a:rPr lang="en-US" sz="2000" b="1" dirty="0"/>
              <a:t> module</a:t>
            </a:r>
            <a:endParaRPr lang="en-US" sz="2000" dirty="0"/>
          </a:p>
          <a:p>
            <a:pPr marL="0" indent="0">
              <a:buNone/>
            </a:pPr>
            <a:r>
              <a:rPr lang="en-US" sz="2000" dirty="0" err="1"/>
              <a:t>SProcess</a:t>
            </a:r>
            <a:r>
              <a:rPr lang="en-US" sz="2000" dirty="0"/>
              <a:t> is a </a:t>
            </a:r>
            <a:r>
              <a:rPr lang="en-US" sz="2000" b="1" dirty="0"/>
              <a:t>topography and process simulator</a:t>
            </a:r>
            <a:r>
              <a:rPr lang="en-US" sz="2000" dirty="0"/>
              <a:t> used to model fabrication steps such as </a:t>
            </a:r>
            <a:r>
              <a:rPr lang="en-US" sz="2000" b="1" dirty="0"/>
              <a:t>etching, deposition, and CMP planarization</a:t>
            </a:r>
            <a:r>
              <a:rPr lang="en-US" sz="2000" dirty="0"/>
              <a:t> in </a:t>
            </a:r>
            <a:r>
              <a:rPr lang="en-US" sz="2000" b="1" dirty="0"/>
              <a:t>2D/3D</a:t>
            </a:r>
            <a:r>
              <a:rPr lang="en-US" sz="2000" dirty="0"/>
              <a:t>.</a:t>
            </a:r>
          </a:p>
          <a:p>
            <a:pPr marL="0" indent="0">
              <a:buNone/>
            </a:pPr>
            <a:endParaRPr lang="en-US" sz="2000" dirty="0"/>
          </a:p>
          <a:p>
            <a:pPr marL="0" indent="0">
              <a:buNone/>
            </a:pPr>
            <a:r>
              <a:rPr lang="en-IN" sz="2000" dirty="0">
                <a:solidFill>
                  <a:srgbClr val="FF0000"/>
                </a:solidFill>
              </a:rPr>
              <a:t>K.-T. Yeh and H.-Y. Tsai, “Mechanically </a:t>
            </a:r>
            <a:r>
              <a:rPr lang="en-IN" sz="2000" dirty="0" err="1">
                <a:solidFill>
                  <a:srgbClr val="FF0000"/>
                </a:solidFill>
              </a:rPr>
              <a:t>modeling</a:t>
            </a:r>
            <a:r>
              <a:rPr lang="en-IN" sz="2000" dirty="0">
                <a:solidFill>
                  <a:srgbClr val="FF0000"/>
                </a:solidFill>
              </a:rPr>
              <a:t> chemical mechanical planarization from wafer to molecular scales: A review and discussion of future direction,” Journal of Mechanics, vol. 40, pp. 769–773, Dec. 2024, </a:t>
            </a:r>
            <a:r>
              <a:rPr lang="en-IN" sz="2000" dirty="0" err="1">
                <a:solidFill>
                  <a:srgbClr val="FF0000"/>
                </a:solidFill>
              </a:rPr>
              <a:t>doi</a:t>
            </a:r>
            <a:r>
              <a:rPr lang="en-IN" sz="2000" dirty="0">
                <a:solidFill>
                  <a:srgbClr val="FF0000"/>
                </a:solidFill>
              </a:rPr>
              <a:t>: 10.1093/</a:t>
            </a:r>
            <a:r>
              <a:rPr lang="en-IN" sz="2000" dirty="0" err="1">
                <a:solidFill>
                  <a:srgbClr val="FF0000"/>
                </a:solidFill>
              </a:rPr>
              <a:t>jom</a:t>
            </a:r>
            <a:r>
              <a:rPr lang="en-IN" sz="2000" dirty="0">
                <a:solidFill>
                  <a:srgbClr val="FF0000"/>
                </a:solidFill>
              </a:rPr>
              <a:t>/ufae055.</a:t>
            </a:r>
          </a:p>
        </p:txBody>
      </p:sp>
    </p:spTree>
    <p:extLst>
      <p:ext uri="{BB962C8B-B14F-4D97-AF65-F5344CB8AC3E}">
        <p14:creationId xmlns:p14="http://schemas.microsoft.com/office/powerpoint/2010/main" val="2118142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6F4C7-944F-49D6-ED60-62D7A7BF8427}"/>
              </a:ext>
            </a:extLst>
          </p:cNvPr>
          <p:cNvSpPr>
            <a:spLocks noGrp="1"/>
          </p:cNvSpPr>
          <p:nvPr>
            <p:ph type="title"/>
          </p:nvPr>
        </p:nvSpPr>
        <p:spPr>
          <a:xfrm>
            <a:off x="838200" y="-96991"/>
            <a:ext cx="10515600" cy="1325563"/>
          </a:xfrm>
        </p:spPr>
        <p:txBody>
          <a:bodyPr/>
          <a:lstStyle/>
          <a:p>
            <a:r>
              <a:rPr lang="en-IN" dirty="0"/>
              <a:t>Model Parameters used</a:t>
            </a:r>
          </a:p>
        </p:txBody>
      </p:sp>
      <p:sp>
        <p:nvSpPr>
          <p:cNvPr id="3" name="Content Placeholder 2">
            <a:extLst>
              <a:ext uri="{FF2B5EF4-FFF2-40B4-BE49-F238E27FC236}">
                <a16:creationId xmlns:a16="http://schemas.microsoft.com/office/drawing/2014/main" id="{9610F9AF-E29A-91FB-D526-74B1025F7740}"/>
              </a:ext>
            </a:extLst>
          </p:cNvPr>
          <p:cNvSpPr>
            <a:spLocks noGrp="1"/>
          </p:cNvSpPr>
          <p:nvPr>
            <p:ph idx="1"/>
          </p:nvPr>
        </p:nvSpPr>
        <p:spPr>
          <a:xfrm>
            <a:off x="838200" y="963560"/>
            <a:ext cx="10515600" cy="5894439"/>
          </a:xfrm>
        </p:spPr>
        <p:txBody>
          <a:bodyPr>
            <a:noAutofit/>
          </a:bodyPr>
          <a:lstStyle/>
          <a:p>
            <a:pPr marL="0" indent="0">
              <a:buNone/>
            </a:pPr>
            <a:r>
              <a:rPr lang="en-IN" sz="2000" b="1" dirty="0"/>
              <a:t>Substrate Parameters</a:t>
            </a:r>
            <a:endParaRPr lang="en-IN" sz="2000" dirty="0"/>
          </a:p>
          <a:p>
            <a:pPr lvl="0"/>
            <a:r>
              <a:rPr lang="en-IN" sz="2000" dirty="0"/>
              <a:t>Material = Silicon </a:t>
            </a:r>
          </a:p>
          <a:p>
            <a:pPr lvl="0"/>
            <a:r>
              <a:rPr lang="en-IN" sz="2000" dirty="0"/>
              <a:t>Dopant = Phosphorus </a:t>
            </a:r>
          </a:p>
          <a:p>
            <a:pPr lvl="0"/>
            <a:r>
              <a:rPr lang="en-IN" sz="2000" dirty="0"/>
              <a:t>Dopant concentration = 1.0 × 10¹⁵ cm⁻³ </a:t>
            </a:r>
          </a:p>
          <a:p>
            <a:pPr lvl="0"/>
            <a:r>
              <a:rPr lang="en-IN" sz="2000" dirty="0"/>
              <a:t>Region bounds: </a:t>
            </a:r>
          </a:p>
          <a:p>
            <a:pPr marL="457200" lvl="1" indent="0">
              <a:buNone/>
            </a:pPr>
            <a:r>
              <a:rPr lang="en-IN" sz="2000" dirty="0" err="1"/>
              <a:t>xlo</a:t>
            </a:r>
            <a:r>
              <a:rPr lang="en-IN" sz="2000" dirty="0"/>
              <a:t> = Top </a:t>
            </a:r>
          </a:p>
          <a:p>
            <a:pPr marL="457200" lvl="1" indent="0">
              <a:buNone/>
            </a:pPr>
            <a:r>
              <a:rPr lang="en-IN" sz="2000" dirty="0" err="1"/>
              <a:t>xhi</a:t>
            </a:r>
            <a:r>
              <a:rPr lang="en-IN" sz="2000" dirty="0"/>
              <a:t> = Bottom </a:t>
            </a:r>
          </a:p>
          <a:p>
            <a:pPr marL="457200" lvl="1" indent="0">
              <a:buNone/>
            </a:pPr>
            <a:r>
              <a:rPr lang="en-IN" sz="2000" dirty="0" err="1"/>
              <a:t>ylo</a:t>
            </a:r>
            <a:r>
              <a:rPr lang="en-IN" sz="2000" dirty="0"/>
              <a:t> = Left </a:t>
            </a:r>
          </a:p>
          <a:p>
            <a:pPr marL="457200" lvl="1" indent="0">
              <a:buNone/>
            </a:pPr>
            <a:r>
              <a:rPr lang="en-IN" sz="2000" dirty="0" err="1"/>
              <a:t>yhi</a:t>
            </a:r>
            <a:r>
              <a:rPr lang="en-IN" sz="2000" dirty="0"/>
              <a:t> = Right </a:t>
            </a:r>
          </a:p>
          <a:p>
            <a:pPr marL="0" indent="0">
              <a:buNone/>
            </a:pPr>
            <a:r>
              <a:rPr lang="en-IN" sz="2000" b="1" dirty="0"/>
              <a:t>Mask Parameters</a:t>
            </a:r>
            <a:endParaRPr lang="en-IN" sz="2000" dirty="0"/>
          </a:p>
          <a:p>
            <a:pPr lvl="0"/>
            <a:r>
              <a:rPr lang="en-IN" sz="2000" dirty="0"/>
              <a:t>Mask name = </a:t>
            </a:r>
            <a:r>
              <a:rPr lang="en-IN" sz="2000" dirty="0" err="1"/>
              <a:t>trench_mask</a:t>
            </a:r>
            <a:r>
              <a:rPr lang="en-IN" sz="2000" dirty="0"/>
              <a:t> </a:t>
            </a:r>
          </a:p>
          <a:p>
            <a:pPr lvl="0"/>
            <a:r>
              <a:rPr lang="en-IN" sz="2000" dirty="0"/>
              <a:t>Left boundary = 3.0 µm </a:t>
            </a:r>
          </a:p>
          <a:p>
            <a:pPr lvl="0"/>
            <a:r>
              <a:rPr lang="en-IN" sz="2000" dirty="0"/>
              <a:t>Right boundary = 7.0 µm </a:t>
            </a:r>
          </a:p>
          <a:p>
            <a:pPr marL="0" indent="0">
              <a:buNone/>
            </a:pPr>
            <a:r>
              <a:rPr lang="en-IN" sz="2000" dirty="0">
                <a:solidFill>
                  <a:srgbClr val="FF0000"/>
                </a:solidFill>
              </a:rPr>
              <a:t>K.-T. Yeh and H.-Y. Tsai, “Mechanically </a:t>
            </a:r>
            <a:r>
              <a:rPr lang="en-IN" sz="2000" dirty="0" err="1">
                <a:solidFill>
                  <a:srgbClr val="FF0000"/>
                </a:solidFill>
              </a:rPr>
              <a:t>modeling</a:t>
            </a:r>
            <a:r>
              <a:rPr lang="en-IN" sz="2000" dirty="0">
                <a:solidFill>
                  <a:srgbClr val="FF0000"/>
                </a:solidFill>
              </a:rPr>
              <a:t> chemical mechanical planarization from wafer to molecular scales: A review and discussion of future direction,” Journal of Mechanics, vol. 40, pp. 769–773, Dec. 2024, </a:t>
            </a:r>
            <a:r>
              <a:rPr lang="en-IN" sz="2000" dirty="0" err="1">
                <a:solidFill>
                  <a:srgbClr val="FF0000"/>
                </a:solidFill>
              </a:rPr>
              <a:t>doi</a:t>
            </a:r>
            <a:r>
              <a:rPr lang="en-IN" sz="2000" dirty="0">
                <a:solidFill>
                  <a:srgbClr val="FF0000"/>
                </a:solidFill>
              </a:rPr>
              <a:t>: 10.1093/</a:t>
            </a:r>
            <a:r>
              <a:rPr lang="en-IN" sz="2000" dirty="0" err="1">
                <a:solidFill>
                  <a:srgbClr val="FF0000"/>
                </a:solidFill>
              </a:rPr>
              <a:t>jom</a:t>
            </a:r>
            <a:r>
              <a:rPr lang="en-IN" sz="2000" dirty="0">
                <a:solidFill>
                  <a:srgbClr val="FF0000"/>
                </a:solidFill>
              </a:rPr>
              <a:t>/ufae055.</a:t>
            </a:r>
          </a:p>
          <a:p>
            <a:pPr marL="0" indent="0">
              <a:buNone/>
            </a:pPr>
            <a:endParaRPr lang="en-IN" sz="2000" dirty="0"/>
          </a:p>
          <a:p>
            <a:pPr marL="0" indent="0">
              <a:buNone/>
            </a:pPr>
            <a:endParaRPr lang="en-IN" sz="2000" dirty="0"/>
          </a:p>
        </p:txBody>
      </p:sp>
    </p:spTree>
    <p:extLst>
      <p:ext uri="{BB962C8B-B14F-4D97-AF65-F5344CB8AC3E}">
        <p14:creationId xmlns:p14="http://schemas.microsoft.com/office/powerpoint/2010/main" val="3589329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43DEEB-154E-0910-8479-9E5BFD02B74D}"/>
              </a:ext>
            </a:extLst>
          </p:cNvPr>
          <p:cNvSpPr>
            <a:spLocks noGrp="1"/>
          </p:cNvSpPr>
          <p:nvPr>
            <p:ph idx="1"/>
          </p:nvPr>
        </p:nvSpPr>
        <p:spPr>
          <a:xfrm>
            <a:off x="838200" y="137652"/>
            <a:ext cx="10515600" cy="6626942"/>
          </a:xfrm>
        </p:spPr>
        <p:txBody>
          <a:bodyPr>
            <a:normAutofit fontScale="92500" lnSpcReduction="10000"/>
          </a:bodyPr>
          <a:lstStyle/>
          <a:p>
            <a:pPr marL="0" indent="0">
              <a:buNone/>
            </a:pPr>
            <a:r>
              <a:rPr lang="en-IN" sz="2000" b="1" dirty="0"/>
              <a:t>Etching Parameters</a:t>
            </a:r>
            <a:endParaRPr lang="en-IN" sz="2000" dirty="0"/>
          </a:p>
          <a:p>
            <a:pPr lvl="0"/>
            <a:r>
              <a:rPr lang="en-IN" sz="2000" dirty="0"/>
              <a:t>Material etched = Silicon </a:t>
            </a:r>
          </a:p>
          <a:p>
            <a:pPr lvl="0"/>
            <a:r>
              <a:rPr lang="en-IN" sz="2000" dirty="0"/>
              <a:t>Etch type = Anisotropic </a:t>
            </a:r>
          </a:p>
          <a:p>
            <a:pPr lvl="0"/>
            <a:r>
              <a:rPr lang="en-IN" sz="2000" dirty="0"/>
              <a:t>Etch depth (thickness) = 0.4 µm </a:t>
            </a:r>
          </a:p>
          <a:p>
            <a:pPr lvl="0"/>
            <a:r>
              <a:rPr lang="en-IN" sz="2000" dirty="0"/>
              <a:t>Mask used = </a:t>
            </a:r>
            <a:r>
              <a:rPr lang="en-IN" sz="2000" dirty="0" err="1"/>
              <a:t>trench_mask</a:t>
            </a:r>
            <a:r>
              <a:rPr lang="en-IN" sz="2000" dirty="0"/>
              <a:t> </a:t>
            </a:r>
          </a:p>
          <a:p>
            <a:pPr marL="0" indent="0">
              <a:buNone/>
            </a:pPr>
            <a:r>
              <a:rPr lang="en-IN" sz="2000" b="1" dirty="0"/>
              <a:t>Deposition Parameters</a:t>
            </a:r>
            <a:endParaRPr lang="en-IN" sz="2000" dirty="0"/>
          </a:p>
          <a:p>
            <a:pPr lvl="0"/>
            <a:r>
              <a:rPr lang="en-IN" sz="2000" dirty="0"/>
              <a:t>Material deposited = Oxide (</a:t>
            </a:r>
            <a:r>
              <a:rPr lang="en-IN" sz="2000" dirty="0" err="1"/>
              <a:t>SiO</a:t>
            </a:r>
            <a:r>
              <a:rPr lang="en-IN" sz="2000" dirty="0"/>
              <a:t>₂) </a:t>
            </a:r>
          </a:p>
          <a:p>
            <a:pPr lvl="0"/>
            <a:r>
              <a:rPr lang="en-IN" sz="2000" dirty="0"/>
              <a:t>Deposition type = Isotropic </a:t>
            </a:r>
          </a:p>
          <a:p>
            <a:pPr lvl="0"/>
            <a:r>
              <a:rPr lang="en-IN" sz="2000" dirty="0"/>
              <a:t>Deposition time = 1 </a:t>
            </a:r>
          </a:p>
          <a:p>
            <a:pPr lvl="0"/>
            <a:r>
              <a:rPr lang="en-IN" sz="2000" dirty="0"/>
              <a:t>Deposition rate = 0.7 µm/unit time </a:t>
            </a:r>
          </a:p>
          <a:p>
            <a:pPr lvl="0"/>
            <a:r>
              <a:rPr lang="en-IN" sz="2000" dirty="0"/>
              <a:t>Total deposited thickness ≈ 0.7 µm </a:t>
            </a:r>
          </a:p>
          <a:p>
            <a:pPr marL="0" indent="0">
              <a:buNone/>
            </a:pPr>
            <a:endParaRPr lang="en-IN" sz="2000" dirty="0"/>
          </a:p>
          <a:p>
            <a:pPr marL="0" indent="0">
              <a:buNone/>
            </a:pPr>
            <a:r>
              <a:rPr lang="en-IN" sz="2000" b="1" dirty="0"/>
              <a:t>CMP / Planarization Parameters</a:t>
            </a:r>
            <a:endParaRPr lang="en-IN" sz="2000" dirty="0"/>
          </a:p>
          <a:p>
            <a:pPr lvl="0"/>
            <a:r>
              <a:rPr lang="en-IN" sz="2000" dirty="0"/>
              <a:t>Cut minimum coordinates = (−0.3 µm, −1.0 µm) </a:t>
            </a:r>
          </a:p>
          <a:p>
            <a:pPr lvl="0"/>
            <a:r>
              <a:rPr lang="en-IN" sz="2000" dirty="0"/>
              <a:t>Cut maximum coordinates = (2.0 µm, 11.0 µm) </a:t>
            </a:r>
          </a:p>
          <a:p>
            <a:pPr marL="0" lvl="0" indent="0">
              <a:buNone/>
            </a:pPr>
            <a:endParaRPr lang="en-IN" sz="2000" dirty="0"/>
          </a:p>
          <a:p>
            <a:pPr marL="0" indent="0">
              <a:buNone/>
            </a:pPr>
            <a:r>
              <a:rPr lang="en-IN" sz="2000" dirty="0">
                <a:solidFill>
                  <a:srgbClr val="FF0000"/>
                </a:solidFill>
              </a:rPr>
              <a:t>K.-T. Yeh and H.-Y. Tsai, “Mechanically </a:t>
            </a:r>
            <a:r>
              <a:rPr lang="en-IN" sz="2000" dirty="0" err="1">
                <a:solidFill>
                  <a:srgbClr val="FF0000"/>
                </a:solidFill>
              </a:rPr>
              <a:t>modeling</a:t>
            </a:r>
            <a:r>
              <a:rPr lang="en-IN" sz="2000" dirty="0">
                <a:solidFill>
                  <a:srgbClr val="FF0000"/>
                </a:solidFill>
              </a:rPr>
              <a:t> chemical mechanical planarization from wafer to molecular scales: A review and discussion of future direction,” Journal of Mechanics, vol. 40, pp. 769–773, Dec. 2024, </a:t>
            </a:r>
            <a:r>
              <a:rPr lang="en-IN" sz="2000" dirty="0" err="1">
                <a:solidFill>
                  <a:srgbClr val="FF0000"/>
                </a:solidFill>
              </a:rPr>
              <a:t>doi</a:t>
            </a:r>
            <a:r>
              <a:rPr lang="en-IN" sz="2000" dirty="0">
                <a:solidFill>
                  <a:srgbClr val="FF0000"/>
                </a:solidFill>
              </a:rPr>
              <a:t>: 10.1093/</a:t>
            </a:r>
            <a:r>
              <a:rPr lang="en-IN" sz="2000" dirty="0" err="1">
                <a:solidFill>
                  <a:srgbClr val="FF0000"/>
                </a:solidFill>
              </a:rPr>
              <a:t>jom</a:t>
            </a:r>
            <a:r>
              <a:rPr lang="en-IN" sz="2000" dirty="0">
                <a:solidFill>
                  <a:srgbClr val="FF0000"/>
                </a:solidFill>
              </a:rPr>
              <a:t>/ufae055.</a:t>
            </a:r>
          </a:p>
          <a:p>
            <a:pPr marL="0" lvl="0" indent="0">
              <a:buNone/>
            </a:pPr>
            <a:endParaRPr lang="en-IN" sz="2000" dirty="0"/>
          </a:p>
          <a:p>
            <a:pPr marL="0" indent="0">
              <a:buNone/>
            </a:pPr>
            <a:endParaRPr lang="en-IN" sz="2000" dirty="0"/>
          </a:p>
        </p:txBody>
      </p:sp>
    </p:spTree>
    <p:extLst>
      <p:ext uri="{BB962C8B-B14F-4D97-AF65-F5344CB8AC3E}">
        <p14:creationId xmlns:p14="http://schemas.microsoft.com/office/powerpoint/2010/main" val="1844591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E9C38-4030-3391-D0B1-944513E75062}"/>
              </a:ext>
            </a:extLst>
          </p:cNvPr>
          <p:cNvSpPr>
            <a:spLocks noGrp="1"/>
          </p:cNvSpPr>
          <p:nvPr>
            <p:ph type="title"/>
          </p:nvPr>
        </p:nvSpPr>
        <p:spPr>
          <a:xfrm>
            <a:off x="676154" y="-278055"/>
            <a:ext cx="10515600" cy="1325563"/>
          </a:xfrm>
        </p:spPr>
        <p:txBody>
          <a:bodyPr/>
          <a:lstStyle/>
          <a:p>
            <a:r>
              <a:rPr lang="en-IN" dirty="0" err="1"/>
              <a:t>Sentaurus</a:t>
            </a:r>
            <a:r>
              <a:rPr lang="en-IN" dirty="0"/>
              <a:t> Simulation </a:t>
            </a:r>
            <a:r>
              <a:rPr lang="en-IN" dirty="0" err="1"/>
              <a:t>Strucutres</a:t>
            </a:r>
            <a:r>
              <a:rPr lang="en-IN" dirty="0"/>
              <a:t>:-</a:t>
            </a:r>
          </a:p>
        </p:txBody>
      </p:sp>
      <p:sp>
        <p:nvSpPr>
          <p:cNvPr id="3" name="Content Placeholder 2">
            <a:extLst>
              <a:ext uri="{FF2B5EF4-FFF2-40B4-BE49-F238E27FC236}">
                <a16:creationId xmlns:a16="http://schemas.microsoft.com/office/drawing/2014/main" id="{4D4DDC0A-C1EC-7840-9BD8-93F2DEFCF945}"/>
              </a:ext>
            </a:extLst>
          </p:cNvPr>
          <p:cNvSpPr>
            <a:spLocks noGrp="1"/>
          </p:cNvSpPr>
          <p:nvPr>
            <p:ph idx="1"/>
          </p:nvPr>
        </p:nvSpPr>
        <p:spPr>
          <a:xfrm>
            <a:off x="324092" y="732098"/>
            <a:ext cx="6273478" cy="5393803"/>
          </a:xfrm>
        </p:spPr>
        <p:txBody>
          <a:bodyPr>
            <a:normAutofit fontScale="92500"/>
          </a:bodyPr>
          <a:lstStyle/>
          <a:p>
            <a:pPr marL="0" indent="0">
              <a:buNone/>
            </a:pPr>
            <a:r>
              <a:rPr lang="en-IN" b="1" dirty="0"/>
              <a:t>Pre-CMP:-</a:t>
            </a:r>
          </a:p>
          <a:p>
            <a:pPr marL="0" indent="0">
              <a:buNone/>
            </a:pPr>
            <a:r>
              <a:rPr lang="en-US" sz="2200" dirty="0"/>
              <a:t>The figure titled “n_node__</a:t>
            </a:r>
            <a:r>
              <a:rPr lang="en-US" sz="2200" dirty="0" err="1"/>
              <a:t>PreProcess_fps</a:t>
            </a:r>
            <a:r>
              <a:rPr lang="en-US" sz="2200" dirty="0"/>
              <a:t>” represents a 2D cross-sectional structure generated in </a:t>
            </a:r>
            <a:r>
              <a:rPr lang="en-US" sz="2200" dirty="0" err="1"/>
              <a:t>Sentaurus</a:t>
            </a:r>
            <a:r>
              <a:rPr lang="en-US" sz="2200" dirty="0"/>
              <a:t> Visual during the preprocessing stage. The geometry is plotted with Y as the lateral axis (0–10 units) and X as the vertical axis (approximately –2 to 4 units). The structure consists of a single continuous layer with a non-uniform, step-like top surface profile. Specifically, the base of the structure is uniform at around X ≈ 2, while the top surface is lower (X ≈ 0.5) in the outer regions (Y ≈ 0–3 and 7–10) and rises to a higher level (X ≈ 0) in the region (Y ≈ 3–7), forming a central plateau. No scalar fields or physical quantities are visualized, indicating that this is purely a geometrical representation prior to further processing (e.g., etching or deposition). The plot settings show basic visualization with title and legend enabled, and no customized scaling or range selection applied.</a:t>
            </a:r>
            <a:endParaRPr lang="en-IN" sz="2200" dirty="0"/>
          </a:p>
          <a:p>
            <a:pPr marL="0" indent="0">
              <a:buNone/>
            </a:pPr>
            <a:endParaRPr lang="en-IN" dirty="0"/>
          </a:p>
          <a:p>
            <a:pPr marL="0" indent="0">
              <a:buNone/>
            </a:pPr>
            <a:endParaRPr lang="en-IN" dirty="0"/>
          </a:p>
        </p:txBody>
      </p:sp>
      <p:pic>
        <p:nvPicPr>
          <p:cNvPr id="5" name="Picture 4">
            <a:extLst>
              <a:ext uri="{FF2B5EF4-FFF2-40B4-BE49-F238E27FC236}">
                <a16:creationId xmlns:a16="http://schemas.microsoft.com/office/drawing/2014/main" id="{6144E4EA-2AEC-4D5A-A438-ACC4DB4CC63A}"/>
              </a:ext>
            </a:extLst>
          </p:cNvPr>
          <p:cNvPicPr>
            <a:picLocks noChangeAspect="1"/>
          </p:cNvPicPr>
          <p:nvPr/>
        </p:nvPicPr>
        <p:blipFill>
          <a:blip r:embed="rId2"/>
          <a:stretch>
            <a:fillRect/>
          </a:stretch>
        </p:blipFill>
        <p:spPr>
          <a:xfrm>
            <a:off x="6597570" y="1369429"/>
            <a:ext cx="5478683" cy="4082972"/>
          </a:xfrm>
          <a:prstGeom prst="rect">
            <a:avLst/>
          </a:prstGeom>
        </p:spPr>
      </p:pic>
      <p:sp>
        <p:nvSpPr>
          <p:cNvPr id="6" name="TextBox 5">
            <a:extLst>
              <a:ext uri="{FF2B5EF4-FFF2-40B4-BE49-F238E27FC236}">
                <a16:creationId xmlns:a16="http://schemas.microsoft.com/office/drawing/2014/main" id="{E34CDAC8-7393-B36E-8F04-142566EF46E5}"/>
              </a:ext>
            </a:extLst>
          </p:cNvPr>
          <p:cNvSpPr txBox="1"/>
          <p:nvPr/>
        </p:nvSpPr>
        <p:spPr>
          <a:xfrm>
            <a:off x="324092" y="5937813"/>
            <a:ext cx="11191754" cy="1477328"/>
          </a:xfrm>
          <a:prstGeom prst="rect">
            <a:avLst/>
          </a:prstGeom>
          <a:noFill/>
        </p:spPr>
        <p:txBody>
          <a:bodyPr wrap="square" rtlCol="0">
            <a:spAutoFit/>
          </a:bodyPr>
          <a:lstStyle/>
          <a:p>
            <a:r>
              <a:rPr lang="en-IN" dirty="0">
                <a:solidFill>
                  <a:srgbClr val="FF0000"/>
                </a:solidFill>
              </a:rPr>
              <a:t>K.-T. Yeh and H.-Y. Tsai, “Mechanically </a:t>
            </a:r>
            <a:r>
              <a:rPr lang="en-IN" dirty="0" err="1">
                <a:solidFill>
                  <a:srgbClr val="FF0000"/>
                </a:solidFill>
              </a:rPr>
              <a:t>modeling</a:t>
            </a:r>
            <a:r>
              <a:rPr lang="en-IN" dirty="0">
                <a:solidFill>
                  <a:srgbClr val="FF0000"/>
                </a:solidFill>
              </a:rPr>
              <a:t> chemical mechanical planarization from wafer to molecular scales: A review and discussion of future direction,” Journal of Mechanics, vol. 40, pp. 769–773, Dec. 2024, </a:t>
            </a:r>
            <a:r>
              <a:rPr lang="en-IN" dirty="0" err="1">
                <a:solidFill>
                  <a:srgbClr val="FF0000"/>
                </a:solidFill>
              </a:rPr>
              <a:t>doi</a:t>
            </a:r>
            <a:r>
              <a:rPr lang="en-IN" dirty="0">
                <a:solidFill>
                  <a:srgbClr val="FF0000"/>
                </a:solidFill>
              </a:rPr>
              <a:t>: 10.1093/</a:t>
            </a:r>
            <a:r>
              <a:rPr lang="en-IN" dirty="0" err="1">
                <a:solidFill>
                  <a:srgbClr val="FF0000"/>
                </a:solidFill>
              </a:rPr>
              <a:t>jom</a:t>
            </a:r>
            <a:r>
              <a:rPr lang="en-IN" dirty="0">
                <a:solidFill>
                  <a:srgbClr val="FF0000"/>
                </a:solidFill>
              </a:rPr>
              <a:t>/ufae055.</a:t>
            </a:r>
          </a:p>
          <a:p>
            <a:endParaRPr lang="en-IN" dirty="0"/>
          </a:p>
          <a:p>
            <a:endParaRPr lang="en-IN" dirty="0"/>
          </a:p>
        </p:txBody>
      </p:sp>
    </p:spTree>
    <p:extLst>
      <p:ext uri="{BB962C8B-B14F-4D97-AF65-F5344CB8AC3E}">
        <p14:creationId xmlns:p14="http://schemas.microsoft.com/office/powerpoint/2010/main" val="2298132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DB6E11-28AC-5578-183E-AB5BEF352E23}"/>
                  </a:ext>
                </a:extLst>
              </p:cNvPr>
              <p:cNvSpPr>
                <a:spLocks noGrp="1"/>
              </p:cNvSpPr>
              <p:nvPr>
                <p:ph idx="1"/>
              </p:nvPr>
            </p:nvSpPr>
            <p:spPr>
              <a:xfrm>
                <a:off x="768753" y="706055"/>
                <a:ext cx="4891268" cy="5773840"/>
              </a:xfrm>
            </p:spPr>
            <p:txBody>
              <a:bodyPr>
                <a:normAutofit/>
              </a:bodyPr>
              <a:lstStyle/>
              <a:p>
                <a:pPr marL="0" indent="0">
                  <a:buNone/>
                </a:pPr>
                <a:r>
                  <a:rPr lang="en-US" sz="2000" dirty="0"/>
                  <a:t>Plot name </a:t>
                </a:r>
                <a:r>
                  <a:rPr lang="en-US" sz="2000" dirty="0" err="1"/>
                  <a:t>n_node_After_Etch_fps</a:t>
                </a:r>
                <a:r>
                  <a:rPr lang="en-US" sz="2000" dirty="0"/>
                  <a:t> illustrates the silicon topography after anisotropic etching. A trench of approximately 0.4 µm depth is formed in the central region, while the surrounding silicon remains protected by the mask. The etched volume is replaced by a gas region, indicating complete material removal. The vertical sidewalls and flat trench bottom confirm the use of an anisotropic etch model with a uniform etch rate. This structure serves as the initial topography for subsequent oxide deposition and chemical mechanical planarization.</a:t>
                </a:r>
              </a:p>
              <a:p>
                <a:pPr marL="0" indent="0">
                  <a:buNone/>
                </a:pPr>
                <a:r>
                  <a:rPr lang="en-IN" sz="2000" dirty="0"/>
                  <a:t>Retch​≈0.1</a:t>
                </a:r>
                <a:r>
                  <a:rPr lang="el-GR" sz="2000" dirty="0"/>
                  <a:t>μ</a:t>
                </a:r>
                <a:r>
                  <a:rPr lang="en-IN" sz="2000" dirty="0"/>
                  <a:t>m/min </a:t>
                </a:r>
              </a:p>
              <a:p>
                <a:pPr marL="0" indent="0">
                  <a:buNone/>
                </a:pPr>
                <a:r>
                  <a:rPr lang="en-IN" sz="2000" dirty="0"/>
                  <a:t>Then:</a:t>
                </a:r>
              </a:p>
              <a:p>
                <a14:m>
                  <m:oMath xmlns:m="http://schemas.openxmlformats.org/officeDocument/2006/math">
                    <m:r>
                      <a:rPr lang="en-IN" sz="2000" i="1">
                        <a:latin typeface="Cambria Math" panose="02040503050406030204" pitchFamily="18" charset="0"/>
                      </a:rPr>
                      <m:t>𝑡</m:t>
                    </m:r>
                    <m:r>
                      <a:rPr lang="en-IN"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4</m:t>
                        </m:r>
                      </m:num>
                      <m:den>
                        <m:r>
                          <a:rPr lang="ar-AE" sz="2000">
                            <a:latin typeface="Cambria Math" panose="02040503050406030204" pitchFamily="18" charset="0"/>
                          </a:rPr>
                          <m:t>0</m:t>
                        </m:r>
                        <m:r>
                          <a:rPr lang="ar-AE" sz="2000">
                            <a:latin typeface="Cambria Math" panose="02040503050406030204" pitchFamily="18" charset="0"/>
                          </a:rPr>
                          <m:t>.</m:t>
                        </m:r>
                        <m:r>
                          <a:rPr lang="ar-AE" sz="2000">
                            <a:latin typeface="Cambria Math" panose="02040503050406030204" pitchFamily="18" charset="0"/>
                          </a:rPr>
                          <m:t>1</m:t>
                        </m:r>
                      </m:den>
                    </m:f>
                    <m:r>
                      <a:rPr lang="ar-AE" sz="2000">
                        <a:latin typeface="Cambria Math" panose="02040503050406030204" pitchFamily="18" charset="0"/>
                      </a:rPr>
                      <m:t>=</m:t>
                    </m:r>
                    <m:r>
                      <a:rPr lang="ar-AE" sz="2000">
                        <a:latin typeface="Cambria Math" panose="02040503050406030204" pitchFamily="18" charset="0"/>
                      </a:rPr>
                      <m:t>4</m:t>
                    </m:r>
                    <m:r>
                      <m:rPr>
                        <m:nor/>
                      </m:rPr>
                      <a:rPr lang="ar-AE" sz="2000" i="1"/>
                      <m:t> </m:t>
                    </m:r>
                    <m:r>
                      <m:rPr>
                        <m:nor/>
                      </m:rPr>
                      <a:rPr lang="en-IN" sz="2000" i="1"/>
                      <m:t>minutes</m:t>
                    </m:r>
                  </m:oMath>
                </a14:m>
                <a:endParaRPr lang="en-IN" sz="2000" b="0" dirty="0"/>
              </a:p>
              <a:p>
                <a:pPr marL="0" indent="0">
                  <a:buNone/>
                </a:pPr>
                <a:endParaRPr lang="en-IN" sz="2000" dirty="0"/>
              </a:p>
            </p:txBody>
          </p:sp>
        </mc:Choice>
        <mc:Fallback xmlns="">
          <p:sp>
            <p:nvSpPr>
              <p:cNvPr id="3" name="Content Placeholder 2">
                <a:extLst>
                  <a:ext uri="{FF2B5EF4-FFF2-40B4-BE49-F238E27FC236}">
                    <a16:creationId xmlns:a16="http://schemas.microsoft.com/office/drawing/2014/main" id="{F4DB6E11-28AC-5578-183E-AB5BEF352E23}"/>
                  </a:ext>
                </a:extLst>
              </p:cNvPr>
              <p:cNvSpPr>
                <a:spLocks noGrp="1" noRot="1" noChangeAspect="1" noMove="1" noResize="1" noEditPoints="1" noAdjustHandles="1" noChangeArrowheads="1" noChangeShapeType="1" noTextEdit="1"/>
              </p:cNvSpPr>
              <p:nvPr>
                <p:ph idx="1"/>
              </p:nvPr>
            </p:nvSpPr>
            <p:spPr>
              <a:xfrm>
                <a:off x="768753" y="706055"/>
                <a:ext cx="4891268" cy="5773840"/>
              </a:xfrm>
              <a:blipFill>
                <a:blip r:embed="rId2"/>
                <a:stretch>
                  <a:fillRect l="-1247" t="-1056" r="-1870"/>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02F08365-E49E-B6F5-F6AD-F3B0079D96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7813" y="868102"/>
            <a:ext cx="5918520" cy="4734046"/>
          </a:xfrm>
          <a:prstGeom prst="rect">
            <a:avLst/>
          </a:prstGeom>
        </p:spPr>
      </p:pic>
      <p:sp>
        <p:nvSpPr>
          <p:cNvPr id="7" name="TextBox 6">
            <a:extLst>
              <a:ext uri="{FF2B5EF4-FFF2-40B4-BE49-F238E27FC236}">
                <a16:creationId xmlns:a16="http://schemas.microsoft.com/office/drawing/2014/main" id="{43A1F34E-96FB-03D9-F95C-A03C3F5325CC}"/>
              </a:ext>
            </a:extLst>
          </p:cNvPr>
          <p:cNvSpPr txBox="1"/>
          <p:nvPr/>
        </p:nvSpPr>
        <p:spPr>
          <a:xfrm>
            <a:off x="299013" y="5903088"/>
            <a:ext cx="11277599" cy="1754326"/>
          </a:xfrm>
          <a:prstGeom prst="rect">
            <a:avLst/>
          </a:prstGeom>
          <a:noFill/>
        </p:spPr>
        <p:txBody>
          <a:bodyPr wrap="square" rtlCol="0">
            <a:spAutoFit/>
          </a:bodyPr>
          <a:lstStyle/>
          <a:p>
            <a:r>
              <a:rPr lang="en-IN" dirty="0">
                <a:solidFill>
                  <a:srgbClr val="FF0000"/>
                </a:solidFill>
              </a:rPr>
              <a:t>K.-T. Yeh and H.-Y. Tsai, “Mechanically </a:t>
            </a:r>
            <a:r>
              <a:rPr lang="en-IN" dirty="0" err="1">
                <a:solidFill>
                  <a:srgbClr val="FF0000"/>
                </a:solidFill>
              </a:rPr>
              <a:t>modeling</a:t>
            </a:r>
            <a:r>
              <a:rPr lang="en-IN" dirty="0">
                <a:solidFill>
                  <a:srgbClr val="FF0000"/>
                </a:solidFill>
              </a:rPr>
              <a:t> chemical mechanical planarization from wafer to molecular scales: A review and discussion of future direction,” Journal of Mechanics, vol. 40, pp. 769–773, Dec. 2024, </a:t>
            </a:r>
            <a:r>
              <a:rPr lang="en-IN" dirty="0" err="1">
                <a:solidFill>
                  <a:srgbClr val="FF0000"/>
                </a:solidFill>
              </a:rPr>
              <a:t>doi</a:t>
            </a:r>
            <a:r>
              <a:rPr lang="en-IN" dirty="0">
                <a:solidFill>
                  <a:srgbClr val="FF0000"/>
                </a:solidFill>
              </a:rPr>
              <a:t>: 10.1093/</a:t>
            </a:r>
            <a:r>
              <a:rPr lang="en-IN" dirty="0" err="1">
                <a:solidFill>
                  <a:srgbClr val="FF0000"/>
                </a:solidFill>
              </a:rPr>
              <a:t>jom</a:t>
            </a:r>
            <a:r>
              <a:rPr lang="en-IN" dirty="0">
                <a:solidFill>
                  <a:srgbClr val="FF0000"/>
                </a:solidFill>
              </a:rPr>
              <a:t>/ufae055.</a:t>
            </a:r>
          </a:p>
          <a:p>
            <a:endParaRPr lang="en-IN" dirty="0"/>
          </a:p>
          <a:p>
            <a:endParaRPr lang="en-IN" dirty="0"/>
          </a:p>
          <a:p>
            <a:endParaRPr lang="en-IN" dirty="0"/>
          </a:p>
        </p:txBody>
      </p:sp>
    </p:spTree>
    <p:extLst>
      <p:ext uri="{BB962C8B-B14F-4D97-AF65-F5344CB8AC3E}">
        <p14:creationId xmlns:p14="http://schemas.microsoft.com/office/powerpoint/2010/main" val="31228030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B0EDBC-A10A-A706-8EA0-C5875E6C1936}"/>
              </a:ext>
            </a:extLst>
          </p:cNvPr>
          <p:cNvSpPr>
            <a:spLocks noGrp="1"/>
          </p:cNvSpPr>
          <p:nvPr>
            <p:ph idx="1"/>
          </p:nvPr>
        </p:nvSpPr>
        <p:spPr>
          <a:xfrm>
            <a:off x="98323" y="1479755"/>
            <a:ext cx="5997677" cy="5260258"/>
          </a:xfrm>
        </p:spPr>
        <p:txBody>
          <a:bodyPr>
            <a:normAutofit/>
          </a:bodyPr>
          <a:lstStyle/>
          <a:p>
            <a:pPr marL="0" indent="0">
              <a:buNone/>
            </a:pPr>
            <a:r>
              <a:rPr lang="en-US" sz="2000" dirty="0"/>
              <a:t>This image shows a </a:t>
            </a:r>
            <a:r>
              <a:rPr lang="en-US" sz="2000" b="1" dirty="0"/>
              <a:t>2D Pre-CMP structure</a:t>
            </a:r>
            <a:r>
              <a:rPr lang="en-US" sz="2000" dirty="0"/>
              <a:t> simulated using </a:t>
            </a:r>
            <a:r>
              <a:rPr lang="en-US" sz="2000" b="1" dirty="0"/>
              <a:t>Synopsys </a:t>
            </a:r>
            <a:r>
              <a:rPr lang="en-US" sz="2000" b="1" dirty="0" err="1"/>
              <a:t>Sentaurus</a:t>
            </a:r>
            <a:r>
              <a:rPr lang="en-US" sz="2000" b="1" dirty="0"/>
              <a:t> TCAD (</a:t>
            </a:r>
            <a:r>
              <a:rPr lang="en-US" sz="2000" b="1" dirty="0" err="1"/>
              <a:t>SProcess</a:t>
            </a:r>
            <a:r>
              <a:rPr lang="en-US" sz="2000" b="1" dirty="0"/>
              <a:t>)</a:t>
            </a:r>
            <a:r>
              <a:rPr lang="en-US" sz="2000" dirty="0"/>
              <a:t>. A </a:t>
            </a:r>
            <a:r>
              <a:rPr lang="en-US" sz="2000" b="1" dirty="0"/>
              <a:t>silicon substrate</a:t>
            </a:r>
            <a:r>
              <a:rPr lang="en-US" sz="2000" dirty="0"/>
              <a:t> is first initialized and then </a:t>
            </a:r>
            <a:r>
              <a:rPr lang="en-US" sz="2000" b="1" dirty="0" err="1"/>
              <a:t>anisotropically</a:t>
            </a:r>
            <a:r>
              <a:rPr lang="en-US" sz="2000" b="1" dirty="0"/>
              <a:t> etched by 0.4 µm</a:t>
            </a:r>
            <a:r>
              <a:rPr lang="en-US" sz="2000" dirty="0"/>
              <a:t> to form a rectangular trench. After etching, an </a:t>
            </a:r>
            <a:r>
              <a:rPr lang="en-US" sz="2000" b="1" dirty="0"/>
              <a:t>oxide layer is deposited </a:t>
            </a:r>
            <a:r>
              <a:rPr lang="en-US" sz="2000" b="1" dirty="0" err="1"/>
              <a:t>isotropically</a:t>
            </a:r>
            <a:r>
              <a:rPr lang="en-US" sz="2000" dirty="0"/>
              <a:t> with a </a:t>
            </a:r>
            <a:r>
              <a:rPr lang="en-US" sz="2000" b="1" dirty="0"/>
              <a:t>deposition rate of 0.7 µm per unit time for time = 1</a:t>
            </a:r>
            <a:r>
              <a:rPr lang="en-US" sz="2000" dirty="0"/>
              <a:t>, resulting in an </a:t>
            </a:r>
            <a:r>
              <a:rPr lang="en-US" sz="2000" b="1" dirty="0"/>
              <a:t>oxide thickness of approximately 0.7 µm</a:t>
            </a:r>
            <a:r>
              <a:rPr lang="en-US" sz="2000" dirty="0"/>
              <a:t> over the surface and inside the trench. This produces a non-planar topography with oxide overburden above the trench, which is the initial structure used for the subsequent CMP planarization step.</a:t>
            </a:r>
            <a:endParaRPr lang="en-IN" sz="2000" dirty="0"/>
          </a:p>
        </p:txBody>
      </p:sp>
      <p:sp>
        <p:nvSpPr>
          <p:cNvPr id="6" name="TextBox 5">
            <a:extLst>
              <a:ext uri="{FF2B5EF4-FFF2-40B4-BE49-F238E27FC236}">
                <a16:creationId xmlns:a16="http://schemas.microsoft.com/office/drawing/2014/main" id="{D89E99CD-BC2D-0F34-6ECD-96CE9300BE77}"/>
              </a:ext>
            </a:extLst>
          </p:cNvPr>
          <p:cNvSpPr txBox="1"/>
          <p:nvPr/>
        </p:nvSpPr>
        <p:spPr>
          <a:xfrm>
            <a:off x="7084339" y="5302367"/>
            <a:ext cx="4129548" cy="646331"/>
          </a:xfrm>
          <a:prstGeom prst="rect">
            <a:avLst/>
          </a:prstGeom>
          <a:noFill/>
        </p:spPr>
        <p:txBody>
          <a:bodyPr wrap="square" rtlCol="0">
            <a:spAutoFit/>
          </a:bodyPr>
          <a:lstStyle/>
          <a:p>
            <a:r>
              <a:rPr lang="en-IN" i="1" dirty="0"/>
              <a:t>Image of Structure before CMP</a:t>
            </a:r>
            <a:endParaRPr lang="en-IN" dirty="0"/>
          </a:p>
          <a:p>
            <a:endParaRPr lang="en-IN" dirty="0"/>
          </a:p>
        </p:txBody>
      </p:sp>
      <p:sp>
        <p:nvSpPr>
          <p:cNvPr id="7" name="TextBox 6">
            <a:extLst>
              <a:ext uri="{FF2B5EF4-FFF2-40B4-BE49-F238E27FC236}">
                <a16:creationId xmlns:a16="http://schemas.microsoft.com/office/drawing/2014/main" id="{0BE3A9C7-AD5D-7F77-A40C-22C36CFDB044}"/>
              </a:ext>
            </a:extLst>
          </p:cNvPr>
          <p:cNvSpPr txBox="1"/>
          <p:nvPr/>
        </p:nvSpPr>
        <p:spPr>
          <a:xfrm>
            <a:off x="314632" y="5948698"/>
            <a:ext cx="11563423" cy="1200329"/>
          </a:xfrm>
          <a:prstGeom prst="rect">
            <a:avLst/>
          </a:prstGeom>
          <a:noFill/>
        </p:spPr>
        <p:txBody>
          <a:bodyPr wrap="square" rtlCol="0">
            <a:spAutoFit/>
          </a:bodyPr>
          <a:lstStyle/>
          <a:p>
            <a:r>
              <a:rPr lang="en-IN" dirty="0">
                <a:solidFill>
                  <a:srgbClr val="FF0000"/>
                </a:solidFill>
              </a:rPr>
              <a:t>K.-T. Yeh and H.-Y. Tsai, “Mechanically </a:t>
            </a:r>
            <a:r>
              <a:rPr lang="en-IN" dirty="0" err="1">
                <a:solidFill>
                  <a:srgbClr val="FF0000"/>
                </a:solidFill>
              </a:rPr>
              <a:t>modeling</a:t>
            </a:r>
            <a:r>
              <a:rPr lang="en-IN" dirty="0">
                <a:solidFill>
                  <a:srgbClr val="FF0000"/>
                </a:solidFill>
              </a:rPr>
              <a:t> chemical mechanical planarization from wafer to molecular scales: A review and discussion of future direction,” Journal of Mechanics, vol. 40, pp. 769–773, Dec. 2024, </a:t>
            </a:r>
            <a:r>
              <a:rPr lang="en-IN" dirty="0" err="1">
                <a:solidFill>
                  <a:srgbClr val="FF0000"/>
                </a:solidFill>
              </a:rPr>
              <a:t>doi</a:t>
            </a:r>
            <a:r>
              <a:rPr lang="en-IN" dirty="0">
                <a:solidFill>
                  <a:srgbClr val="FF0000"/>
                </a:solidFill>
              </a:rPr>
              <a:t>: 10.1093/</a:t>
            </a:r>
            <a:r>
              <a:rPr lang="en-IN" dirty="0" err="1">
                <a:solidFill>
                  <a:srgbClr val="FF0000"/>
                </a:solidFill>
              </a:rPr>
              <a:t>jom</a:t>
            </a:r>
            <a:r>
              <a:rPr lang="en-IN" dirty="0">
                <a:solidFill>
                  <a:srgbClr val="FF0000"/>
                </a:solidFill>
              </a:rPr>
              <a:t>/ufae055.</a:t>
            </a:r>
          </a:p>
          <a:p>
            <a:endParaRPr lang="en-IN" dirty="0"/>
          </a:p>
        </p:txBody>
      </p:sp>
      <p:pic>
        <p:nvPicPr>
          <p:cNvPr id="8" name="Picture 7">
            <a:extLst>
              <a:ext uri="{FF2B5EF4-FFF2-40B4-BE49-F238E27FC236}">
                <a16:creationId xmlns:a16="http://schemas.microsoft.com/office/drawing/2014/main" id="{F1D0553B-F772-4AF3-71BA-5946821F51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411786"/>
            <a:ext cx="5447071" cy="3570332"/>
          </a:xfrm>
          <a:prstGeom prst="rect">
            <a:avLst/>
          </a:prstGeom>
        </p:spPr>
      </p:pic>
    </p:spTree>
    <p:extLst>
      <p:ext uri="{BB962C8B-B14F-4D97-AF65-F5344CB8AC3E}">
        <p14:creationId xmlns:p14="http://schemas.microsoft.com/office/powerpoint/2010/main" val="32514678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32AF83-5888-BDE1-C792-D628DE404AE2}"/>
              </a:ext>
            </a:extLst>
          </p:cNvPr>
          <p:cNvSpPr>
            <a:spLocks noGrp="1"/>
          </p:cNvSpPr>
          <p:nvPr>
            <p:ph idx="1"/>
          </p:nvPr>
        </p:nvSpPr>
        <p:spPr>
          <a:xfrm>
            <a:off x="838200" y="1120877"/>
            <a:ext cx="6211529" cy="5456904"/>
          </a:xfrm>
        </p:spPr>
        <p:txBody>
          <a:bodyPr>
            <a:normAutofit/>
          </a:bodyPr>
          <a:lstStyle/>
          <a:p>
            <a:pPr marL="0" indent="0">
              <a:buNone/>
            </a:pPr>
            <a:r>
              <a:rPr lang="en-IN" sz="2400" b="1" dirty="0"/>
              <a:t>Post-CMP  :-</a:t>
            </a:r>
          </a:p>
          <a:p>
            <a:pPr marL="0" indent="0">
              <a:buNone/>
            </a:pPr>
            <a:r>
              <a:rPr lang="en-US" sz="2000" dirty="0"/>
              <a:t>The plot titled </a:t>
            </a:r>
            <a:r>
              <a:rPr lang="en-US" sz="2000" dirty="0" err="1"/>
              <a:t>n_node_After_Etch_fps</a:t>
            </a:r>
            <a:r>
              <a:rPr lang="en-US" sz="2000" dirty="0"/>
              <a:t> shows the post-etch silicon topography obtained using an anisotropic etch model in </a:t>
            </a:r>
            <a:r>
              <a:rPr lang="en-US" sz="2000" dirty="0" err="1"/>
              <a:t>Sentaurus</a:t>
            </a:r>
            <a:r>
              <a:rPr lang="en-US" sz="2000" dirty="0"/>
              <a:t> Process. A trench of approximately 0.4 µm depth is formed in the central region, corresponding to the mask opening between 3 µm and 7 µm. The anisotropic etch removes silicon predominantly in the vertical direction, producing near-vertical sidewalls and a flat trench bottom. The etched depth corresponds to the specified etch thickness, which can be related to the etch rate and process time. This etched profile serves as the initial topography for subsequent oxide deposition and CMP planarization.</a:t>
            </a:r>
          </a:p>
          <a:p>
            <a:pPr marL="0" indent="0">
              <a:buNone/>
            </a:pPr>
            <a:endParaRPr lang="en-IN" sz="2000" b="1" dirty="0"/>
          </a:p>
          <a:p>
            <a:pPr marL="0" indent="0">
              <a:buNone/>
            </a:pPr>
            <a:endParaRPr lang="en-IN" b="1" dirty="0"/>
          </a:p>
        </p:txBody>
      </p:sp>
      <p:pic>
        <p:nvPicPr>
          <p:cNvPr id="5" name="Picture 4">
            <a:extLst>
              <a:ext uri="{FF2B5EF4-FFF2-40B4-BE49-F238E27FC236}">
                <a16:creationId xmlns:a16="http://schemas.microsoft.com/office/drawing/2014/main" id="{F858F937-4AB8-8CA0-F560-9A5B340ED08A}"/>
              </a:ext>
            </a:extLst>
          </p:cNvPr>
          <p:cNvPicPr>
            <a:picLocks noChangeAspect="1"/>
          </p:cNvPicPr>
          <p:nvPr/>
        </p:nvPicPr>
        <p:blipFill>
          <a:blip r:embed="rId2"/>
          <a:stretch>
            <a:fillRect/>
          </a:stretch>
        </p:blipFill>
        <p:spPr>
          <a:xfrm>
            <a:off x="7049729" y="1818968"/>
            <a:ext cx="4990418" cy="2807110"/>
          </a:xfrm>
          <a:prstGeom prst="rect">
            <a:avLst/>
          </a:prstGeom>
        </p:spPr>
      </p:pic>
      <p:sp>
        <p:nvSpPr>
          <p:cNvPr id="6" name="TextBox 5">
            <a:extLst>
              <a:ext uri="{FF2B5EF4-FFF2-40B4-BE49-F238E27FC236}">
                <a16:creationId xmlns:a16="http://schemas.microsoft.com/office/drawing/2014/main" id="{1FBF8963-CA4B-BC4D-40F3-C8DBC9B2C64E}"/>
              </a:ext>
            </a:extLst>
          </p:cNvPr>
          <p:cNvSpPr txBox="1"/>
          <p:nvPr/>
        </p:nvSpPr>
        <p:spPr>
          <a:xfrm>
            <a:off x="137651" y="5776452"/>
            <a:ext cx="10992465" cy="1200329"/>
          </a:xfrm>
          <a:prstGeom prst="rect">
            <a:avLst/>
          </a:prstGeom>
          <a:noFill/>
        </p:spPr>
        <p:txBody>
          <a:bodyPr wrap="square" rtlCol="0">
            <a:spAutoFit/>
          </a:bodyPr>
          <a:lstStyle/>
          <a:p>
            <a:r>
              <a:rPr lang="en-IN" dirty="0">
                <a:solidFill>
                  <a:srgbClr val="FF0000"/>
                </a:solidFill>
              </a:rPr>
              <a:t>K.-T. Yeh and H.-Y. Tsai, “Mechanically </a:t>
            </a:r>
            <a:r>
              <a:rPr lang="en-IN" dirty="0" err="1">
                <a:solidFill>
                  <a:srgbClr val="FF0000"/>
                </a:solidFill>
              </a:rPr>
              <a:t>modeling</a:t>
            </a:r>
            <a:r>
              <a:rPr lang="en-IN" dirty="0">
                <a:solidFill>
                  <a:srgbClr val="FF0000"/>
                </a:solidFill>
              </a:rPr>
              <a:t> chemical mechanical planarization from wafer to molecular scales: A review and discussion of future direction,” Journal of Mechanics, vol. 40, pp. 769–773, Dec. 2024, </a:t>
            </a:r>
            <a:r>
              <a:rPr lang="en-IN" dirty="0" err="1">
                <a:solidFill>
                  <a:srgbClr val="FF0000"/>
                </a:solidFill>
              </a:rPr>
              <a:t>doi</a:t>
            </a:r>
            <a:r>
              <a:rPr lang="en-IN" dirty="0">
                <a:solidFill>
                  <a:srgbClr val="FF0000"/>
                </a:solidFill>
              </a:rPr>
              <a:t>: 10.1093/</a:t>
            </a:r>
            <a:r>
              <a:rPr lang="en-IN" dirty="0" err="1">
                <a:solidFill>
                  <a:srgbClr val="FF0000"/>
                </a:solidFill>
              </a:rPr>
              <a:t>jom</a:t>
            </a:r>
            <a:r>
              <a:rPr lang="en-IN" dirty="0">
                <a:solidFill>
                  <a:srgbClr val="FF0000"/>
                </a:solidFill>
              </a:rPr>
              <a:t>/ufae055.</a:t>
            </a:r>
          </a:p>
          <a:p>
            <a:endParaRPr lang="en-IN" dirty="0"/>
          </a:p>
        </p:txBody>
      </p:sp>
    </p:spTree>
    <p:extLst>
      <p:ext uri="{BB962C8B-B14F-4D97-AF65-F5344CB8AC3E}">
        <p14:creationId xmlns:p14="http://schemas.microsoft.com/office/powerpoint/2010/main" val="2463186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5BF291-A958-37FE-F8EA-BD9F3D23E644}"/>
              </a:ext>
            </a:extLst>
          </p:cNvPr>
          <p:cNvSpPr>
            <a:spLocks noGrp="1"/>
          </p:cNvSpPr>
          <p:nvPr>
            <p:ph idx="1"/>
          </p:nvPr>
        </p:nvSpPr>
        <p:spPr>
          <a:xfrm>
            <a:off x="530943" y="235974"/>
            <a:ext cx="5565058" cy="6410632"/>
          </a:xfrm>
        </p:spPr>
        <p:txBody>
          <a:bodyPr>
            <a:normAutofit/>
          </a:bodyPr>
          <a:lstStyle/>
          <a:p>
            <a:pPr marL="0" indent="0">
              <a:buNone/>
            </a:pPr>
            <a:r>
              <a:rPr lang="en-US" sz="2000" dirty="0"/>
              <a:t>This image shows the 2D Post-CMP structure simulated using Synopsys </a:t>
            </a:r>
            <a:r>
              <a:rPr lang="en-US" sz="2000" dirty="0" err="1"/>
              <a:t>Sentaurus</a:t>
            </a:r>
            <a:r>
              <a:rPr lang="en-US" sz="2000" dirty="0"/>
              <a:t> TCAD (</a:t>
            </a:r>
            <a:r>
              <a:rPr lang="en-US" sz="2000" dirty="0" err="1"/>
              <a:t>SProcess</a:t>
            </a:r>
            <a:r>
              <a:rPr lang="en-US" sz="2000" dirty="0"/>
              <a:t>). After oxide deposition, the initially non-planar surface containing a central oxide overburden is planarized. The planarization is implemented using Chemical Mechanical Planarization (CMP) model. Based on the print.1d outputs at multiple lateral positions, the top oxide surface is observed at nearly the same depth (~ -0.299 µm), confirming that the surface has become uniformly </a:t>
            </a:r>
            <a:r>
              <a:rPr lang="en-US" sz="2000" dirty="0" err="1"/>
              <a:t>flat.The</a:t>
            </a:r>
            <a:r>
              <a:rPr lang="en-US" sz="2000" dirty="0"/>
              <a:t> resulting structure consists of a silicon substrate covered by a planar oxide layer with no significant height variation across the surface. This indicates successful removal of the central bump and achievement of global planarization. The CMP process is assumed to be ideal, with complete removal of surface topography and no dishing or erosion effects</a:t>
            </a:r>
            <a:endParaRPr lang="en-IN" sz="2000" dirty="0"/>
          </a:p>
        </p:txBody>
      </p:sp>
      <p:sp>
        <p:nvSpPr>
          <p:cNvPr id="6" name="TextBox 5">
            <a:extLst>
              <a:ext uri="{FF2B5EF4-FFF2-40B4-BE49-F238E27FC236}">
                <a16:creationId xmlns:a16="http://schemas.microsoft.com/office/drawing/2014/main" id="{BFDBEA63-5CA5-72F7-6595-EB2AC9BE0973}"/>
              </a:ext>
            </a:extLst>
          </p:cNvPr>
          <p:cNvSpPr txBox="1"/>
          <p:nvPr/>
        </p:nvSpPr>
        <p:spPr>
          <a:xfrm>
            <a:off x="7057005" y="5480042"/>
            <a:ext cx="5024283" cy="369332"/>
          </a:xfrm>
          <a:prstGeom prst="rect">
            <a:avLst/>
          </a:prstGeom>
          <a:noFill/>
        </p:spPr>
        <p:txBody>
          <a:bodyPr wrap="square" rtlCol="0">
            <a:spAutoFit/>
          </a:bodyPr>
          <a:lstStyle/>
          <a:p>
            <a:r>
              <a:rPr lang="en-IN" i="1" dirty="0"/>
              <a:t>Image of Structure after CMP</a:t>
            </a:r>
            <a:endParaRPr lang="en-IN" dirty="0"/>
          </a:p>
        </p:txBody>
      </p:sp>
      <p:sp>
        <p:nvSpPr>
          <p:cNvPr id="8" name="TextBox 7">
            <a:extLst>
              <a:ext uri="{FF2B5EF4-FFF2-40B4-BE49-F238E27FC236}">
                <a16:creationId xmlns:a16="http://schemas.microsoft.com/office/drawing/2014/main" id="{0371B7C8-7C5A-2F14-5A64-356C1BB77831}"/>
              </a:ext>
            </a:extLst>
          </p:cNvPr>
          <p:cNvSpPr txBox="1"/>
          <p:nvPr/>
        </p:nvSpPr>
        <p:spPr>
          <a:xfrm>
            <a:off x="334174" y="5907942"/>
            <a:ext cx="10874476" cy="1477328"/>
          </a:xfrm>
          <a:prstGeom prst="rect">
            <a:avLst/>
          </a:prstGeom>
          <a:noFill/>
        </p:spPr>
        <p:txBody>
          <a:bodyPr wrap="square" rtlCol="0">
            <a:spAutoFit/>
          </a:bodyPr>
          <a:lstStyle/>
          <a:p>
            <a:r>
              <a:rPr lang="en-IN" dirty="0">
                <a:solidFill>
                  <a:srgbClr val="FF0000"/>
                </a:solidFill>
              </a:rPr>
              <a:t>K.-T. Yeh and H.-Y. Tsai, “Mechanically </a:t>
            </a:r>
            <a:r>
              <a:rPr lang="en-IN" dirty="0" err="1">
                <a:solidFill>
                  <a:srgbClr val="FF0000"/>
                </a:solidFill>
              </a:rPr>
              <a:t>modeling</a:t>
            </a:r>
            <a:r>
              <a:rPr lang="en-IN" dirty="0">
                <a:solidFill>
                  <a:srgbClr val="FF0000"/>
                </a:solidFill>
              </a:rPr>
              <a:t> chemical mechanical planarization from wafer to molecular scales: A review and discussion of future direction,” Journal of Mechanics, vol. 40, pp. 769–773, Dec. 2024, </a:t>
            </a:r>
            <a:r>
              <a:rPr lang="en-IN" dirty="0" err="1">
                <a:solidFill>
                  <a:srgbClr val="FF0000"/>
                </a:solidFill>
              </a:rPr>
              <a:t>doi</a:t>
            </a:r>
            <a:r>
              <a:rPr lang="en-IN" dirty="0">
                <a:solidFill>
                  <a:srgbClr val="FF0000"/>
                </a:solidFill>
              </a:rPr>
              <a:t>: 10.1093/</a:t>
            </a:r>
            <a:r>
              <a:rPr lang="en-IN" dirty="0" err="1">
                <a:solidFill>
                  <a:srgbClr val="FF0000"/>
                </a:solidFill>
              </a:rPr>
              <a:t>jom</a:t>
            </a:r>
            <a:r>
              <a:rPr lang="en-IN" dirty="0">
                <a:solidFill>
                  <a:srgbClr val="FF0000"/>
                </a:solidFill>
              </a:rPr>
              <a:t>/ufae055.</a:t>
            </a:r>
          </a:p>
          <a:p>
            <a:endParaRPr lang="en-IN" dirty="0"/>
          </a:p>
          <a:p>
            <a:endParaRPr lang="en-IN" dirty="0"/>
          </a:p>
        </p:txBody>
      </p:sp>
      <p:pic>
        <p:nvPicPr>
          <p:cNvPr id="5" name="Picture 4">
            <a:extLst>
              <a:ext uri="{FF2B5EF4-FFF2-40B4-BE49-F238E27FC236}">
                <a16:creationId xmlns:a16="http://schemas.microsoft.com/office/drawing/2014/main" id="{32BA3797-56D9-C74A-57B2-99D33223C6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831446"/>
            <a:ext cx="5565058" cy="4471416"/>
          </a:xfrm>
          <a:prstGeom prst="rect">
            <a:avLst/>
          </a:prstGeom>
        </p:spPr>
      </p:pic>
    </p:spTree>
    <p:extLst>
      <p:ext uri="{BB962C8B-B14F-4D97-AF65-F5344CB8AC3E}">
        <p14:creationId xmlns:p14="http://schemas.microsoft.com/office/powerpoint/2010/main" val="23125520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F8AD9-3E1F-3FAC-4C78-86C01288D290}"/>
              </a:ext>
            </a:extLst>
          </p:cNvPr>
          <p:cNvSpPr>
            <a:spLocks noGrp="1"/>
          </p:cNvSpPr>
          <p:nvPr>
            <p:ph type="title"/>
          </p:nvPr>
        </p:nvSpPr>
        <p:spPr>
          <a:xfrm>
            <a:off x="690716" y="-136320"/>
            <a:ext cx="10515600" cy="1325563"/>
          </a:xfrm>
        </p:spPr>
        <p:txBody>
          <a:bodyPr/>
          <a:lstStyle/>
          <a:p>
            <a:r>
              <a:rPr lang="en-IN" dirty="0"/>
              <a:t>Calculation of Planarization Efficiency:-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2282FE-567A-32D9-266C-BA319F19A685}"/>
                  </a:ext>
                </a:extLst>
              </p:cNvPr>
              <p:cNvSpPr>
                <a:spLocks noGrp="1"/>
              </p:cNvSpPr>
              <p:nvPr>
                <p:ph idx="1"/>
              </p:nvPr>
            </p:nvSpPr>
            <p:spPr>
              <a:xfrm>
                <a:off x="376083" y="1110125"/>
                <a:ext cx="4795684" cy="5174073"/>
              </a:xfrm>
            </p:spPr>
            <p:txBody>
              <a:bodyPr>
                <a:noAutofit/>
              </a:bodyPr>
              <a:lstStyle/>
              <a:p>
                <a:pPr marL="0" indent="0">
                  <a:buNone/>
                </a:pPr>
                <a:r>
                  <a:rPr lang="en-IN" sz="1400" b="1" dirty="0"/>
                  <a:t>From the graph: </a:t>
                </a:r>
              </a:p>
              <a:p>
                <a:pPr marL="0" indent="0">
                  <a:buNone/>
                </a:pPr>
                <a:r>
                  <a:rPr lang="en-IN" sz="1400" b="1" dirty="0"/>
                  <a:t>Before CMP (blue curve)</a:t>
                </a:r>
                <a:endParaRPr lang="en-IN" sz="1400" dirty="0"/>
              </a:p>
              <a:p>
                <a:pPr lvl="0"/>
                <a14:m>
                  <m:oMath xmlns:m="http://schemas.openxmlformats.org/officeDocument/2006/math">
                    <m:sSubSup>
                      <m:sSubSupPr>
                        <m:ctrlPr>
                          <a:rPr lang="en-IN" sz="1400" i="1">
                            <a:latin typeface="Cambria Math" panose="02040503050406030204" pitchFamily="18" charset="0"/>
                          </a:rPr>
                        </m:ctrlPr>
                      </m:sSubSupPr>
                      <m:e>
                        <m:r>
                          <a:rPr lang="en-IN" sz="1400" i="1">
                            <a:latin typeface="Cambria Math" panose="02040503050406030204" pitchFamily="18" charset="0"/>
                          </a:rPr>
                          <m:t>h</m:t>
                        </m:r>
                      </m:e>
                      <m:sub>
                        <m:r>
                          <m:rPr>
                            <m:sty m:val="p"/>
                          </m:rPr>
                          <a:rPr lang="en-IN" sz="1400">
                            <a:latin typeface="Cambria Math" panose="02040503050406030204" pitchFamily="18" charset="0"/>
                          </a:rPr>
                          <m:t>max</m:t>
                        </m:r>
                      </m:sub>
                      <m:sup>
                        <m:r>
                          <a:rPr lang="en-IN" sz="1400" i="1">
                            <a:latin typeface="Cambria Math" panose="02040503050406030204" pitchFamily="18" charset="0"/>
                          </a:rPr>
                          <m:t>⁡</m:t>
                        </m:r>
                      </m:sup>
                    </m:sSubSup>
                    <m:r>
                      <a:rPr lang="en-IN" sz="1400" i="1">
                        <a:latin typeface="Cambria Math" panose="02040503050406030204" pitchFamily="18" charset="0"/>
                      </a:rPr>
                      <m:t>≈</m:t>
                    </m:r>
                    <m:r>
                      <a:rPr lang="en-IN" sz="1400" i="1">
                        <a:latin typeface="Cambria Math" panose="02040503050406030204" pitchFamily="18" charset="0"/>
                      </a:rPr>
                      <m:t>1</m:t>
                    </m:r>
                    <m:r>
                      <a:rPr lang="en-IN" sz="1400" i="1">
                        <a:latin typeface="Cambria Math" panose="02040503050406030204" pitchFamily="18" charset="0"/>
                      </a:rPr>
                      <m:t>.</m:t>
                    </m:r>
                    <m:r>
                      <a:rPr lang="en-IN" sz="1400" i="1">
                        <a:latin typeface="Cambria Math" panose="02040503050406030204" pitchFamily="18" charset="0"/>
                      </a:rPr>
                      <m:t>7</m:t>
                    </m:r>
                    <m:r>
                      <a:rPr lang="en-IN" sz="1400" b="0" i="1" smtClean="0">
                        <a:latin typeface="Cambria Math" panose="02040503050406030204" pitchFamily="18" charset="0"/>
                      </a:rPr>
                      <m:t>𝑢𝑚</m:t>
                    </m:r>
                  </m:oMath>
                </a14:m>
                <a:endParaRPr lang="en-IN" sz="1400" dirty="0"/>
              </a:p>
              <a:p>
                <a:pPr lvl="0"/>
                <a14:m>
                  <m:oMath xmlns:m="http://schemas.openxmlformats.org/officeDocument/2006/math">
                    <m:sSubSup>
                      <m:sSubSupPr>
                        <m:ctrlPr>
                          <a:rPr lang="en-IN" sz="1400" i="1">
                            <a:latin typeface="Cambria Math" panose="02040503050406030204" pitchFamily="18" charset="0"/>
                          </a:rPr>
                        </m:ctrlPr>
                      </m:sSubSupPr>
                      <m:e>
                        <m:r>
                          <a:rPr lang="en-IN" sz="1400" i="1">
                            <a:latin typeface="Cambria Math" panose="02040503050406030204" pitchFamily="18" charset="0"/>
                          </a:rPr>
                          <m:t>h</m:t>
                        </m:r>
                      </m:e>
                      <m:sub>
                        <m:r>
                          <m:rPr>
                            <m:sty m:val="p"/>
                          </m:rPr>
                          <a:rPr lang="en-IN" sz="1400">
                            <a:latin typeface="Cambria Math" panose="02040503050406030204" pitchFamily="18" charset="0"/>
                          </a:rPr>
                          <m:t>min</m:t>
                        </m:r>
                      </m:sub>
                      <m:sup>
                        <m:r>
                          <a:rPr lang="en-IN" sz="1400" i="1">
                            <a:latin typeface="Cambria Math" panose="02040503050406030204" pitchFamily="18" charset="0"/>
                          </a:rPr>
                          <m:t>⁡</m:t>
                        </m:r>
                      </m:sup>
                    </m:sSubSup>
                    <m:r>
                      <a:rPr lang="en-IN" sz="1400" i="1">
                        <a:latin typeface="Cambria Math" panose="02040503050406030204" pitchFamily="18" charset="0"/>
                      </a:rPr>
                      <m:t>≈−</m:t>
                    </m:r>
                    <m:r>
                      <a:rPr lang="en-IN" sz="1400" i="1">
                        <a:latin typeface="Cambria Math" panose="02040503050406030204" pitchFamily="18" charset="0"/>
                      </a:rPr>
                      <m:t>0</m:t>
                    </m:r>
                    <m:r>
                      <a:rPr lang="en-IN" sz="1400" i="1">
                        <a:latin typeface="Cambria Math" panose="02040503050406030204" pitchFamily="18" charset="0"/>
                      </a:rPr>
                      <m:t>.</m:t>
                    </m:r>
                    <m:r>
                      <a:rPr lang="en-IN" sz="1400" i="1">
                        <a:latin typeface="Cambria Math" panose="02040503050406030204" pitchFamily="18" charset="0"/>
                      </a:rPr>
                      <m:t>2</m:t>
                    </m:r>
                  </m:oMath>
                </a14:m>
                <a:r>
                  <a:rPr lang="en-IN" sz="1400" dirty="0"/>
                  <a:t>um</a:t>
                </a:r>
              </a:p>
              <a:p>
                <a:pPr lvl="0"/>
                <a:r>
                  <a:rPr lang="en-IN" sz="1400" dirty="0" err="1"/>
                  <a:t>Δhbefore</a:t>
                </a:r>
                <a:r>
                  <a:rPr lang="en-IN" sz="1400" dirty="0"/>
                  <a:t>​=(1.7−(−0.2)) um=1.9um</a:t>
                </a:r>
              </a:p>
              <a:p>
                <a:pPr marL="0" indent="0">
                  <a:buNone/>
                </a:pPr>
                <a:r>
                  <a:rPr lang="en-IN" sz="1400" dirty="0"/>
                  <a:t> </a:t>
                </a:r>
              </a:p>
              <a:p>
                <a:pPr marL="0" indent="0">
                  <a:buNone/>
                </a:pPr>
                <a:r>
                  <a:rPr lang="en-IN" sz="1400" b="1" dirty="0"/>
                  <a:t>After CMP (orange curve)</a:t>
                </a:r>
                <a:endParaRPr lang="en-IN" sz="1400" dirty="0"/>
              </a:p>
              <a:p>
                <a:pPr lvl="0"/>
                <a14:m>
                  <m:oMath xmlns:m="http://schemas.openxmlformats.org/officeDocument/2006/math">
                    <m:sSubSup>
                      <m:sSubSupPr>
                        <m:ctrlPr>
                          <a:rPr lang="en-IN" sz="1400" i="1">
                            <a:latin typeface="Cambria Math" panose="02040503050406030204" pitchFamily="18" charset="0"/>
                          </a:rPr>
                        </m:ctrlPr>
                      </m:sSubSupPr>
                      <m:e>
                        <m:r>
                          <a:rPr lang="en-IN" sz="1400" i="1">
                            <a:latin typeface="Cambria Math" panose="02040503050406030204" pitchFamily="18" charset="0"/>
                          </a:rPr>
                          <m:t>h</m:t>
                        </m:r>
                      </m:e>
                      <m:sub>
                        <m:r>
                          <m:rPr>
                            <m:sty m:val="p"/>
                          </m:rPr>
                          <a:rPr lang="en-IN" sz="1400">
                            <a:latin typeface="Cambria Math" panose="02040503050406030204" pitchFamily="18" charset="0"/>
                          </a:rPr>
                          <m:t>max</m:t>
                        </m:r>
                      </m:sub>
                      <m:sup>
                        <m:r>
                          <a:rPr lang="en-IN" sz="1400" i="1">
                            <a:latin typeface="Cambria Math" panose="02040503050406030204" pitchFamily="18" charset="0"/>
                          </a:rPr>
                          <m:t>⁡</m:t>
                        </m:r>
                      </m:sup>
                    </m:sSubSup>
                    <m:r>
                      <a:rPr lang="en-IN" sz="1400" i="1">
                        <a:latin typeface="Cambria Math" panose="02040503050406030204" pitchFamily="18" charset="0"/>
                      </a:rPr>
                      <m:t>≈</m:t>
                    </m:r>
                    <m:r>
                      <a:rPr lang="en-IN" sz="1400" i="1">
                        <a:latin typeface="Cambria Math" panose="02040503050406030204" pitchFamily="18" charset="0"/>
                      </a:rPr>
                      <m:t>0</m:t>
                    </m:r>
                    <m:r>
                      <a:rPr lang="en-IN" sz="1400" i="1">
                        <a:latin typeface="Cambria Math" panose="02040503050406030204" pitchFamily="18" charset="0"/>
                      </a:rPr>
                      <m:t>.</m:t>
                    </m:r>
                    <m:r>
                      <a:rPr lang="en-IN" sz="1400" i="1">
                        <a:latin typeface="Cambria Math" panose="02040503050406030204" pitchFamily="18" charset="0"/>
                      </a:rPr>
                      <m:t>2</m:t>
                    </m:r>
                  </m:oMath>
                </a14:m>
                <a:r>
                  <a:rPr lang="en-IN" sz="1400" dirty="0"/>
                  <a:t>um</a:t>
                </a:r>
              </a:p>
              <a:p>
                <a:pPr lvl="0"/>
                <a14:m>
                  <m:oMath xmlns:m="http://schemas.openxmlformats.org/officeDocument/2006/math">
                    <m:sSubSup>
                      <m:sSubSupPr>
                        <m:ctrlPr>
                          <a:rPr lang="en-IN" sz="1400" i="1">
                            <a:latin typeface="Cambria Math" panose="02040503050406030204" pitchFamily="18" charset="0"/>
                          </a:rPr>
                        </m:ctrlPr>
                      </m:sSubSupPr>
                      <m:e>
                        <m:r>
                          <a:rPr lang="en-IN" sz="1400" i="1">
                            <a:latin typeface="Cambria Math" panose="02040503050406030204" pitchFamily="18" charset="0"/>
                          </a:rPr>
                          <m:t>h</m:t>
                        </m:r>
                      </m:e>
                      <m:sub>
                        <m:r>
                          <m:rPr>
                            <m:sty m:val="p"/>
                          </m:rPr>
                          <a:rPr lang="en-IN" sz="1400">
                            <a:latin typeface="Cambria Math" panose="02040503050406030204" pitchFamily="18" charset="0"/>
                          </a:rPr>
                          <m:t>min</m:t>
                        </m:r>
                      </m:sub>
                      <m:sup>
                        <m:r>
                          <a:rPr lang="en-IN" sz="1400" i="1">
                            <a:latin typeface="Cambria Math" panose="02040503050406030204" pitchFamily="18" charset="0"/>
                          </a:rPr>
                          <m:t>⁡</m:t>
                        </m:r>
                      </m:sup>
                    </m:sSubSup>
                    <m:r>
                      <a:rPr lang="en-IN" sz="1400" i="1">
                        <a:latin typeface="Cambria Math" panose="02040503050406030204" pitchFamily="18" charset="0"/>
                      </a:rPr>
                      <m:t>≈−</m:t>
                    </m:r>
                    <m:r>
                      <a:rPr lang="en-IN" sz="1400" i="1">
                        <a:latin typeface="Cambria Math" panose="02040503050406030204" pitchFamily="18" charset="0"/>
                      </a:rPr>
                      <m:t>0</m:t>
                    </m:r>
                    <m:r>
                      <a:rPr lang="en-IN" sz="1400" i="1">
                        <a:latin typeface="Cambria Math" panose="02040503050406030204" pitchFamily="18" charset="0"/>
                      </a:rPr>
                      <m:t>.</m:t>
                    </m:r>
                    <m:r>
                      <a:rPr lang="en-IN" sz="1400" i="1">
                        <a:latin typeface="Cambria Math" panose="02040503050406030204" pitchFamily="18" charset="0"/>
                      </a:rPr>
                      <m:t>1</m:t>
                    </m:r>
                  </m:oMath>
                </a14:m>
                <a:r>
                  <a:rPr lang="en-IN" sz="1400" dirty="0"/>
                  <a:t>um</a:t>
                </a:r>
              </a:p>
              <a:p>
                <a:pPr lvl="0"/>
                <a14:m>
                  <m:oMath xmlns:m="http://schemas.openxmlformats.org/officeDocument/2006/math">
                    <m:r>
                      <m:rPr>
                        <m:sty m:val="p"/>
                      </m:rPr>
                      <a:rPr lang="en-IN" sz="1400">
                        <a:latin typeface="Cambria Math" panose="02040503050406030204" pitchFamily="18" charset="0"/>
                      </a:rPr>
                      <m:t>Δ</m:t>
                    </m:r>
                    <m:sSub>
                      <m:sSubPr>
                        <m:ctrlPr>
                          <a:rPr lang="en-IN" sz="1400" i="1">
                            <a:latin typeface="Cambria Math" panose="02040503050406030204" pitchFamily="18" charset="0"/>
                          </a:rPr>
                        </m:ctrlPr>
                      </m:sSubPr>
                      <m:e>
                        <m:r>
                          <a:rPr lang="en-IN" sz="1400" i="1">
                            <a:latin typeface="Cambria Math" panose="02040503050406030204" pitchFamily="18" charset="0"/>
                          </a:rPr>
                          <m:t>h</m:t>
                        </m:r>
                      </m:e>
                      <m:sub/>
                    </m:sSub>
                    <m:r>
                      <a:rPr lang="en-IN" sz="1400" i="1">
                        <a:latin typeface="Cambria Math" panose="02040503050406030204" pitchFamily="18" charset="0"/>
                      </a:rPr>
                      <m:t>=</m:t>
                    </m:r>
                    <m:d>
                      <m:dPr>
                        <m:ctrlPr>
                          <a:rPr lang="en-IN" sz="1400" i="1">
                            <a:latin typeface="Cambria Math" panose="02040503050406030204" pitchFamily="18" charset="0"/>
                          </a:rPr>
                        </m:ctrlPr>
                      </m:dPr>
                      <m:e>
                        <m:r>
                          <a:rPr lang="en-IN" sz="1400" i="1">
                            <a:latin typeface="Cambria Math" panose="02040503050406030204" pitchFamily="18" charset="0"/>
                          </a:rPr>
                          <m:t>0</m:t>
                        </m:r>
                        <m:r>
                          <a:rPr lang="en-IN" sz="1400" i="1">
                            <a:latin typeface="Cambria Math" panose="02040503050406030204" pitchFamily="18" charset="0"/>
                          </a:rPr>
                          <m:t>.</m:t>
                        </m:r>
                        <m:r>
                          <a:rPr lang="en-IN" sz="1400" i="1">
                            <a:latin typeface="Cambria Math" panose="02040503050406030204" pitchFamily="18" charset="0"/>
                          </a:rPr>
                          <m:t>2</m:t>
                        </m:r>
                        <m:r>
                          <a:rPr lang="en-IN" sz="1400" i="1">
                            <a:latin typeface="Cambria Math" panose="02040503050406030204" pitchFamily="18" charset="0"/>
                          </a:rPr>
                          <m:t>−</m:t>
                        </m:r>
                        <m:d>
                          <m:dPr>
                            <m:ctrlPr>
                              <a:rPr lang="en-IN" sz="1400" i="1">
                                <a:latin typeface="Cambria Math" panose="02040503050406030204" pitchFamily="18" charset="0"/>
                              </a:rPr>
                            </m:ctrlPr>
                          </m:dPr>
                          <m:e>
                            <m:r>
                              <a:rPr lang="en-IN" sz="1400" i="1">
                                <a:latin typeface="Cambria Math" panose="02040503050406030204" pitchFamily="18" charset="0"/>
                              </a:rPr>
                              <m:t>−</m:t>
                            </m:r>
                            <m:r>
                              <a:rPr lang="en-IN" sz="1400" i="1">
                                <a:latin typeface="Cambria Math" panose="02040503050406030204" pitchFamily="18" charset="0"/>
                              </a:rPr>
                              <m:t>0</m:t>
                            </m:r>
                            <m:r>
                              <a:rPr lang="en-IN" sz="1400" i="1">
                                <a:latin typeface="Cambria Math" panose="02040503050406030204" pitchFamily="18" charset="0"/>
                              </a:rPr>
                              <m:t>.</m:t>
                            </m:r>
                            <m:r>
                              <a:rPr lang="en-IN" sz="1400" i="1">
                                <a:latin typeface="Cambria Math" panose="02040503050406030204" pitchFamily="18" charset="0"/>
                              </a:rPr>
                              <m:t>1</m:t>
                            </m:r>
                          </m:e>
                        </m:d>
                      </m:e>
                    </m:d>
                    <m:r>
                      <a:rPr lang="en-IN" sz="1400" b="0" i="1" smtClean="0">
                        <a:latin typeface="Cambria Math" panose="02040503050406030204" pitchFamily="18" charset="0"/>
                      </a:rPr>
                      <m:t>𝑢𝑚</m:t>
                    </m:r>
                    <m:r>
                      <a:rPr lang="en-IN" sz="1400" i="1">
                        <a:latin typeface="Cambria Math" panose="02040503050406030204" pitchFamily="18" charset="0"/>
                      </a:rPr>
                      <m:t>=</m:t>
                    </m:r>
                    <m:r>
                      <a:rPr lang="en-IN" sz="1400" i="1">
                        <a:latin typeface="Cambria Math" panose="02040503050406030204" pitchFamily="18" charset="0"/>
                      </a:rPr>
                      <m:t>0</m:t>
                    </m:r>
                    <m:r>
                      <a:rPr lang="en-IN" sz="1400" i="1">
                        <a:latin typeface="Cambria Math" panose="02040503050406030204" pitchFamily="18" charset="0"/>
                      </a:rPr>
                      <m:t>.</m:t>
                    </m:r>
                    <m:r>
                      <a:rPr lang="en-IN" sz="1400" i="1">
                        <a:latin typeface="Cambria Math" panose="02040503050406030204" pitchFamily="18" charset="0"/>
                      </a:rPr>
                      <m:t>3</m:t>
                    </m:r>
                  </m:oMath>
                </a14:m>
                <a:r>
                  <a:rPr lang="en-IN" sz="1400" dirty="0"/>
                  <a:t>um</a:t>
                </a:r>
                <a:br>
                  <a:rPr lang="en-IN" sz="1400" dirty="0"/>
                </a:br>
                <a:endParaRPr lang="en-IN" sz="1400" dirty="0"/>
              </a:p>
              <a:p>
                <a:pPr marL="0" indent="0">
                  <a:buNone/>
                </a:pPr>
                <a:r>
                  <a:rPr lang="en-IN" sz="1400" b="1" dirty="0"/>
                  <a:t>Planarization Efficiency Calculation</a:t>
                </a:r>
              </a:p>
              <a:p>
                <a:pPr marL="0" indent="0">
                  <a:buNone/>
                </a:pPr>
                <a:endParaRPr lang="en-IN" sz="1400" dirty="0"/>
              </a:p>
              <a:p>
                <a:pPr marL="0" indent="0">
                  <a:buNone/>
                </a:pPr>
                <a14:m>
                  <m:oMathPara xmlns:m="http://schemas.openxmlformats.org/officeDocument/2006/math">
                    <m:oMathParaPr>
                      <m:jc m:val="centerGroup"/>
                    </m:oMathParaPr>
                    <m:oMath xmlns:m="http://schemas.openxmlformats.org/officeDocument/2006/math">
                      <m:r>
                        <a:rPr lang="en-IN" sz="1400" i="1">
                          <a:latin typeface="Cambria Math" panose="02040503050406030204" pitchFamily="18" charset="0"/>
                        </a:rPr>
                        <m:t>=</m:t>
                      </m:r>
                      <m:f>
                        <m:fPr>
                          <m:ctrlPr>
                            <a:rPr lang="en-IN" sz="1400" i="1">
                              <a:latin typeface="Cambria Math" panose="02040503050406030204" pitchFamily="18" charset="0"/>
                            </a:rPr>
                          </m:ctrlPr>
                        </m:fPr>
                        <m:num>
                          <m:r>
                            <a:rPr lang="en-IN" sz="1400" i="1">
                              <a:latin typeface="Cambria Math" panose="02040503050406030204" pitchFamily="18" charset="0"/>
                            </a:rPr>
                            <m:t>1</m:t>
                          </m:r>
                          <m:r>
                            <a:rPr lang="en-IN" sz="1400" i="1">
                              <a:latin typeface="Cambria Math" panose="02040503050406030204" pitchFamily="18" charset="0"/>
                            </a:rPr>
                            <m:t>.</m:t>
                          </m:r>
                          <m:r>
                            <a:rPr lang="en-IN" sz="1400" i="1">
                              <a:latin typeface="Cambria Math" panose="02040503050406030204" pitchFamily="18" charset="0"/>
                            </a:rPr>
                            <m:t>9</m:t>
                          </m:r>
                          <m:r>
                            <a:rPr lang="en-IN" sz="1400" b="0" i="1" smtClean="0">
                              <a:latin typeface="Cambria Math" panose="02040503050406030204" pitchFamily="18" charset="0"/>
                            </a:rPr>
                            <m:t>𝑢𝑚</m:t>
                          </m:r>
                          <m:r>
                            <a:rPr lang="en-IN" sz="1400" i="1">
                              <a:latin typeface="Cambria Math" panose="02040503050406030204" pitchFamily="18" charset="0"/>
                            </a:rPr>
                            <m:t>−</m:t>
                          </m:r>
                          <m:r>
                            <a:rPr lang="en-IN" sz="1400" i="1">
                              <a:latin typeface="Cambria Math" panose="02040503050406030204" pitchFamily="18" charset="0"/>
                            </a:rPr>
                            <m:t>0</m:t>
                          </m:r>
                          <m:r>
                            <a:rPr lang="en-IN" sz="1400" i="1">
                              <a:latin typeface="Cambria Math" panose="02040503050406030204" pitchFamily="18" charset="0"/>
                            </a:rPr>
                            <m:t>.</m:t>
                          </m:r>
                          <m:r>
                            <a:rPr lang="en-IN" sz="1400" i="1">
                              <a:latin typeface="Cambria Math" panose="02040503050406030204" pitchFamily="18" charset="0"/>
                            </a:rPr>
                            <m:t>3</m:t>
                          </m:r>
                          <m:r>
                            <a:rPr lang="en-IN" sz="1400" b="0" i="1" smtClean="0">
                              <a:latin typeface="Cambria Math" panose="02040503050406030204" pitchFamily="18" charset="0"/>
                            </a:rPr>
                            <m:t>𝑢𝑚</m:t>
                          </m:r>
                        </m:num>
                        <m:den>
                          <m:r>
                            <a:rPr lang="en-IN" sz="1400" i="1">
                              <a:latin typeface="Cambria Math" panose="02040503050406030204" pitchFamily="18" charset="0"/>
                            </a:rPr>
                            <m:t>1</m:t>
                          </m:r>
                          <m:r>
                            <a:rPr lang="en-IN" sz="1400" i="1">
                              <a:latin typeface="Cambria Math" panose="02040503050406030204" pitchFamily="18" charset="0"/>
                            </a:rPr>
                            <m:t>.</m:t>
                          </m:r>
                          <m:r>
                            <a:rPr lang="en-IN" sz="1400" i="1">
                              <a:latin typeface="Cambria Math" panose="02040503050406030204" pitchFamily="18" charset="0"/>
                            </a:rPr>
                            <m:t>9</m:t>
                          </m:r>
                          <m:r>
                            <a:rPr lang="en-IN" sz="1400" b="0" i="1" smtClean="0">
                              <a:latin typeface="Cambria Math" panose="02040503050406030204" pitchFamily="18" charset="0"/>
                            </a:rPr>
                            <m:t>𝑢𝑚</m:t>
                          </m:r>
                        </m:den>
                      </m:f>
                      <m:r>
                        <a:rPr lang="en-IN" sz="1400" i="1">
                          <a:latin typeface="Cambria Math" panose="02040503050406030204" pitchFamily="18" charset="0"/>
                        </a:rPr>
                        <m:t>×</m:t>
                      </m:r>
                      <m:r>
                        <a:rPr lang="en-IN" sz="1400" i="1">
                          <a:latin typeface="Cambria Math" panose="02040503050406030204" pitchFamily="18" charset="0"/>
                        </a:rPr>
                        <m:t>100</m:t>
                      </m:r>
                    </m:oMath>
                  </m:oMathPara>
                </a14:m>
                <a:endParaRPr lang="en-IN" sz="1400" dirty="0"/>
              </a:p>
              <a:p>
                <a:pPr marL="0" indent="0">
                  <a:buNone/>
                </a:pPr>
                <a:br>
                  <a:rPr lang="en-IN" sz="1400" dirty="0"/>
                </a:br>
                <a14:m>
                  <m:oMathPara xmlns:m="http://schemas.openxmlformats.org/officeDocument/2006/math">
                    <m:oMathParaPr>
                      <m:jc m:val="centerGroup"/>
                    </m:oMathParaPr>
                    <m:oMath xmlns:m="http://schemas.openxmlformats.org/officeDocument/2006/math">
                      <m:r>
                        <a:rPr lang="en-IN" sz="1400" i="1">
                          <a:latin typeface="Cambria Math" panose="02040503050406030204" pitchFamily="18" charset="0"/>
                        </a:rPr>
                        <m:t>=</m:t>
                      </m:r>
                      <m:f>
                        <m:fPr>
                          <m:ctrlPr>
                            <a:rPr lang="en-IN" sz="1400" i="1">
                              <a:latin typeface="Cambria Math" panose="02040503050406030204" pitchFamily="18" charset="0"/>
                            </a:rPr>
                          </m:ctrlPr>
                        </m:fPr>
                        <m:num>
                          <m:r>
                            <a:rPr lang="en-IN" sz="1400" i="1">
                              <a:latin typeface="Cambria Math" panose="02040503050406030204" pitchFamily="18" charset="0"/>
                            </a:rPr>
                            <m:t>1</m:t>
                          </m:r>
                          <m:r>
                            <a:rPr lang="en-IN" sz="1400" i="1">
                              <a:latin typeface="Cambria Math" panose="02040503050406030204" pitchFamily="18" charset="0"/>
                            </a:rPr>
                            <m:t>.</m:t>
                          </m:r>
                          <m:r>
                            <a:rPr lang="en-IN" sz="1400" i="1">
                              <a:latin typeface="Cambria Math" panose="02040503050406030204" pitchFamily="18" charset="0"/>
                            </a:rPr>
                            <m:t>6</m:t>
                          </m:r>
                        </m:num>
                        <m:den>
                          <m:r>
                            <a:rPr lang="en-IN" sz="1400" i="1">
                              <a:latin typeface="Cambria Math" panose="02040503050406030204" pitchFamily="18" charset="0"/>
                            </a:rPr>
                            <m:t>1</m:t>
                          </m:r>
                          <m:r>
                            <a:rPr lang="en-IN" sz="1400" i="1">
                              <a:latin typeface="Cambria Math" panose="02040503050406030204" pitchFamily="18" charset="0"/>
                            </a:rPr>
                            <m:t>.</m:t>
                          </m:r>
                          <m:r>
                            <a:rPr lang="en-IN" sz="1400" i="1">
                              <a:latin typeface="Cambria Math" panose="02040503050406030204" pitchFamily="18" charset="0"/>
                            </a:rPr>
                            <m:t>9</m:t>
                          </m:r>
                        </m:den>
                      </m:f>
                      <m:r>
                        <a:rPr lang="en-IN" sz="1400" i="1">
                          <a:latin typeface="Cambria Math" panose="02040503050406030204" pitchFamily="18" charset="0"/>
                        </a:rPr>
                        <m:t>×</m:t>
                      </m:r>
                      <m:r>
                        <a:rPr lang="en-IN" sz="1400" i="1">
                          <a:latin typeface="Cambria Math" panose="02040503050406030204" pitchFamily="18" charset="0"/>
                        </a:rPr>
                        <m:t>100</m:t>
                      </m:r>
                      <m:r>
                        <a:rPr lang="en-IN" sz="1400" i="1">
                          <a:latin typeface="Cambria Math" panose="02040503050406030204" pitchFamily="18" charset="0"/>
                        </a:rPr>
                        <m:t>≈</m:t>
                      </m:r>
                      <m:borderBox>
                        <m:borderBoxPr>
                          <m:ctrlPr>
                            <a:rPr lang="en-IN" sz="1400" i="1">
                              <a:latin typeface="Cambria Math" panose="02040503050406030204" pitchFamily="18" charset="0"/>
                            </a:rPr>
                          </m:ctrlPr>
                        </m:borderBoxPr>
                        <m:e>
                          <m:r>
                            <a:rPr lang="en-IN" sz="1400" i="1">
                              <a:latin typeface="Cambria Math" panose="02040503050406030204" pitchFamily="18" charset="0"/>
                            </a:rPr>
                            <m:t>84</m:t>
                          </m:r>
                          <m:r>
                            <a:rPr lang="en-IN" sz="1400" i="1">
                              <a:latin typeface="Cambria Math" panose="02040503050406030204" pitchFamily="18" charset="0"/>
                            </a:rPr>
                            <m:t>.</m:t>
                          </m:r>
                          <m:r>
                            <a:rPr lang="en-IN" sz="1400" i="1">
                              <a:latin typeface="Cambria Math" panose="02040503050406030204" pitchFamily="18" charset="0"/>
                            </a:rPr>
                            <m:t>2</m:t>
                          </m:r>
                          <m:r>
                            <a:rPr lang="en-IN" sz="1400">
                              <a:latin typeface="Cambria Math" panose="02040503050406030204" pitchFamily="18" charset="0"/>
                            </a:rPr>
                            <m:t>%</m:t>
                          </m:r>
                        </m:e>
                      </m:borderBox>
                    </m:oMath>
                  </m:oMathPara>
                </a14:m>
                <a:endParaRPr lang="en-IN" sz="1400" dirty="0"/>
              </a:p>
              <a:p>
                <a:pPr marL="0" indent="0">
                  <a:buNone/>
                </a:pPr>
                <a:endParaRPr lang="en-IN" sz="1400" dirty="0"/>
              </a:p>
            </p:txBody>
          </p:sp>
        </mc:Choice>
        <mc:Fallback xmlns="">
          <p:sp>
            <p:nvSpPr>
              <p:cNvPr id="3" name="Content Placeholder 2">
                <a:extLst>
                  <a:ext uri="{FF2B5EF4-FFF2-40B4-BE49-F238E27FC236}">
                    <a16:creationId xmlns:a16="http://schemas.microsoft.com/office/drawing/2014/main" id="{3F2282FE-567A-32D9-266C-BA319F19A685}"/>
                  </a:ext>
                </a:extLst>
              </p:cNvPr>
              <p:cNvSpPr>
                <a:spLocks noGrp="1" noRot="1" noChangeAspect="1" noMove="1" noResize="1" noEditPoints="1" noAdjustHandles="1" noChangeArrowheads="1" noChangeShapeType="1" noTextEdit="1"/>
              </p:cNvSpPr>
              <p:nvPr>
                <p:ph idx="1"/>
              </p:nvPr>
            </p:nvSpPr>
            <p:spPr>
              <a:xfrm>
                <a:off x="376083" y="1110125"/>
                <a:ext cx="4795684" cy="5174073"/>
              </a:xfrm>
              <a:blipFill>
                <a:blip r:embed="rId3"/>
                <a:stretch>
                  <a:fillRect l="-382" t="-589"/>
                </a:stretch>
              </a:blipFill>
            </p:spPr>
            <p:txBody>
              <a:bodyPr/>
              <a:lstStyle/>
              <a:p>
                <a:r>
                  <a:rPr lang="en-IN">
                    <a:noFill/>
                  </a:rPr>
                  <a:t> </a:t>
                </a:r>
              </a:p>
            </p:txBody>
          </p:sp>
        </mc:Fallback>
      </mc:AlternateContent>
      <p:sp>
        <p:nvSpPr>
          <p:cNvPr id="5" name="TextBox 4">
            <a:extLst>
              <a:ext uri="{FF2B5EF4-FFF2-40B4-BE49-F238E27FC236}">
                <a16:creationId xmlns:a16="http://schemas.microsoft.com/office/drawing/2014/main" id="{604DB818-5D94-A45F-34F5-315063C61942}"/>
              </a:ext>
            </a:extLst>
          </p:cNvPr>
          <p:cNvSpPr txBox="1"/>
          <p:nvPr/>
        </p:nvSpPr>
        <p:spPr>
          <a:xfrm>
            <a:off x="5869858" y="5428705"/>
            <a:ext cx="5769078" cy="646331"/>
          </a:xfrm>
          <a:prstGeom prst="rect">
            <a:avLst/>
          </a:prstGeom>
          <a:noFill/>
        </p:spPr>
        <p:txBody>
          <a:bodyPr wrap="square" rtlCol="0">
            <a:spAutoFit/>
          </a:bodyPr>
          <a:lstStyle/>
          <a:p>
            <a:r>
              <a:rPr lang="en-IN" i="1" dirty="0"/>
              <a:t>Plot of </a:t>
            </a:r>
            <a:r>
              <a:rPr lang="en-IN" i="1" dirty="0" err="1"/>
              <a:t>PreCMP</a:t>
            </a:r>
            <a:r>
              <a:rPr lang="en-IN" i="1" dirty="0"/>
              <a:t> v/s </a:t>
            </a:r>
            <a:r>
              <a:rPr lang="en-IN" i="1" dirty="0" err="1"/>
              <a:t>PostCMP</a:t>
            </a:r>
            <a:r>
              <a:rPr lang="en-IN" i="1" dirty="0"/>
              <a:t> using </a:t>
            </a:r>
            <a:r>
              <a:rPr lang="en-IN" i="1" dirty="0" err="1"/>
              <a:t>Sentaurus</a:t>
            </a:r>
            <a:r>
              <a:rPr lang="en-IN" i="1" dirty="0"/>
              <a:t> </a:t>
            </a:r>
            <a:r>
              <a:rPr lang="en-IN" i="1" dirty="0" err="1"/>
              <a:t>Svisual</a:t>
            </a:r>
            <a:r>
              <a:rPr lang="en-IN" i="1" dirty="0"/>
              <a:t> </a:t>
            </a:r>
            <a:endParaRPr lang="en-IN" dirty="0"/>
          </a:p>
          <a:p>
            <a:endParaRPr lang="en-IN" dirty="0"/>
          </a:p>
        </p:txBody>
      </p:sp>
      <p:pic>
        <p:nvPicPr>
          <p:cNvPr id="9" name="Picture 8">
            <a:extLst>
              <a:ext uri="{FF2B5EF4-FFF2-40B4-BE49-F238E27FC236}">
                <a16:creationId xmlns:a16="http://schemas.microsoft.com/office/drawing/2014/main" id="{271B381D-675A-78F3-121B-C300594ECA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726" y="1903771"/>
            <a:ext cx="6410632" cy="3430690"/>
          </a:xfrm>
          <a:prstGeom prst="rect">
            <a:avLst/>
          </a:prstGeom>
        </p:spPr>
      </p:pic>
    </p:spTree>
    <p:extLst>
      <p:ext uri="{BB962C8B-B14F-4D97-AF65-F5344CB8AC3E}">
        <p14:creationId xmlns:p14="http://schemas.microsoft.com/office/powerpoint/2010/main" val="207033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570B7-07CD-8C4D-B531-791FA90FD6CC}"/>
              </a:ext>
            </a:extLst>
          </p:cNvPr>
          <p:cNvSpPr>
            <a:spLocks noGrp="1"/>
          </p:cNvSpPr>
          <p:nvPr>
            <p:ph type="title"/>
          </p:nvPr>
        </p:nvSpPr>
        <p:spPr>
          <a:xfrm>
            <a:off x="838200" y="365125"/>
            <a:ext cx="10515600" cy="549275"/>
          </a:xfrm>
        </p:spPr>
        <p:txBody>
          <a:bodyPr>
            <a:normAutofit fontScale="90000"/>
          </a:bodyPr>
          <a:lstStyle/>
          <a:p>
            <a:r>
              <a:rPr lang="en-IN" dirty="0"/>
              <a:t>Limitations of current CMP models</a:t>
            </a:r>
            <a:br>
              <a:rPr lang="en-IN" dirty="0"/>
            </a:br>
            <a:endParaRPr lang="en-IN" dirty="0"/>
          </a:p>
        </p:txBody>
      </p:sp>
      <p:sp>
        <p:nvSpPr>
          <p:cNvPr id="3" name="Content Placeholder 2">
            <a:extLst>
              <a:ext uri="{FF2B5EF4-FFF2-40B4-BE49-F238E27FC236}">
                <a16:creationId xmlns:a16="http://schemas.microsoft.com/office/drawing/2014/main" id="{720D2132-7634-FC11-CE19-737B31A1F496}"/>
              </a:ext>
            </a:extLst>
          </p:cNvPr>
          <p:cNvSpPr>
            <a:spLocks noGrp="1"/>
          </p:cNvSpPr>
          <p:nvPr>
            <p:ph idx="1"/>
          </p:nvPr>
        </p:nvSpPr>
        <p:spPr>
          <a:xfrm>
            <a:off x="838200" y="688258"/>
            <a:ext cx="10515600" cy="6243484"/>
          </a:xfrm>
        </p:spPr>
        <p:txBody>
          <a:bodyPr>
            <a:normAutofit/>
          </a:bodyPr>
          <a:lstStyle/>
          <a:p>
            <a:r>
              <a:rPr lang="en-US" sz="2000" dirty="0"/>
              <a:t>Current Chemical Mechanical Planarization (CMP) models suffer from several inherent limitations due to the complex, multiscale nature of the process. Most widely used models, such as </a:t>
            </a:r>
            <a:r>
              <a:rPr lang="en-US" sz="2000" b="1" dirty="0"/>
              <a:t>Preston-based models</a:t>
            </a:r>
            <a:r>
              <a:rPr lang="en-US" sz="2000" dirty="0"/>
              <a:t>, assume a linear relationship between material removal rate, pressure, and velocity, which fails to capture nonlinear effects arising from slurry chemistry, pad aging, and temperature variations. These models treat the Preston coefficient as a constant, even though it strongly depends on local chemistry, abrasive interactions, and material properties.</a:t>
            </a:r>
          </a:p>
          <a:p>
            <a:r>
              <a:rPr lang="en-US" sz="2000" dirty="0"/>
              <a:t>Many CMP models rely on </a:t>
            </a:r>
            <a:r>
              <a:rPr lang="en-US" sz="2000" b="1" dirty="0"/>
              <a:t>purely mechanical or purely geometric assumptions</a:t>
            </a:r>
            <a:r>
              <a:rPr lang="en-US" sz="2000" dirty="0"/>
              <a:t>, neglecting the true chemical–mechanical synergy at the wafer–pad interface. As a result, they cannot accurately predict defect mechanisms such as dishing, erosion, scratching, or corrosion. In addition, pattern-density effects and feature-scale variations are often averaged out, limiting model accuracy for advanced, highly patterned interconnect layouts.</a:t>
            </a:r>
          </a:p>
          <a:p>
            <a:r>
              <a:rPr lang="en-US" sz="2000" dirty="0"/>
              <a:t>Another major limitation is the lack of </a:t>
            </a:r>
            <a:r>
              <a:rPr lang="en-US" sz="2000" b="1" dirty="0"/>
              <a:t>microscale and nanoscale contact modeling</a:t>
            </a:r>
            <a:r>
              <a:rPr lang="en-US" sz="2000" dirty="0"/>
              <a:t>. Real CMP involves stochastic pad asperity contacts and abrasive dynamics, which are difficult to represent using continuum-based or empirical models. Furthermore, most existing models are material-specific and require extensive experimental calibration, reducing their predictive capability and general applicability across different processes and materials.</a:t>
            </a:r>
          </a:p>
          <a:p>
            <a:endParaRPr lang="en-US" sz="2000" dirty="0"/>
          </a:p>
          <a:p>
            <a:pPr marL="0" indent="0">
              <a:buNone/>
            </a:pPr>
            <a:r>
              <a:rPr lang="en-IN" sz="2000" dirty="0">
                <a:solidFill>
                  <a:srgbClr val="FF0000"/>
                </a:solidFill>
              </a:rPr>
              <a:t>M. Krishnan, J. W. </a:t>
            </a:r>
            <a:r>
              <a:rPr lang="en-IN" sz="2000" dirty="0" err="1">
                <a:solidFill>
                  <a:srgbClr val="FF0000"/>
                </a:solidFill>
              </a:rPr>
              <a:t>Nalaskowski</a:t>
            </a:r>
            <a:r>
              <a:rPr lang="en-IN" sz="2000" dirty="0">
                <a:solidFill>
                  <a:srgbClr val="FF0000"/>
                </a:solidFill>
              </a:rPr>
              <a:t>, and L. M. Cook, “Chemical Mechanical Planarization: Slurry Chemistry, Materials, and Mechanisms,” Chemical Reviews, 2009.</a:t>
            </a:r>
          </a:p>
          <a:p>
            <a:pPr marL="0" indent="0">
              <a:buNone/>
            </a:pPr>
            <a:endParaRPr lang="en-IN" sz="2000" dirty="0">
              <a:hlinkClick r:id="rId2"/>
            </a:endParaRPr>
          </a:p>
        </p:txBody>
      </p:sp>
    </p:spTree>
    <p:extLst>
      <p:ext uri="{BB962C8B-B14F-4D97-AF65-F5344CB8AC3E}">
        <p14:creationId xmlns:p14="http://schemas.microsoft.com/office/powerpoint/2010/main" val="39482889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E1C1E-D790-3F01-C856-A03220F1C144}"/>
              </a:ext>
            </a:extLst>
          </p:cNvPr>
          <p:cNvSpPr>
            <a:spLocks noGrp="1"/>
          </p:cNvSpPr>
          <p:nvPr>
            <p:ph type="title"/>
          </p:nvPr>
        </p:nvSpPr>
        <p:spPr>
          <a:xfrm>
            <a:off x="838200" y="-96991"/>
            <a:ext cx="10515600" cy="1325563"/>
          </a:xfrm>
        </p:spPr>
        <p:txBody>
          <a:bodyPr/>
          <a:lstStyle/>
          <a:p>
            <a:r>
              <a:rPr lang="en-IN" dirty="0"/>
              <a:t>Future Scope</a:t>
            </a:r>
          </a:p>
        </p:txBody>
      </p:sp>
      <p:sp>
        <p:nvSpPr>
          <p:cNvPr id="3" name="Content Placeholder 2">
            <a:extLst>
              <a:ext uri="{FF2B5EF4-FFF2-40B4-BE49-F238E27FC236}">
                <a16:creationId xmlns:a16="http://schemas.microsoft.com/office/drawing/2014/main" id="{A6DE067A-BB8D-23BE-0497-4A1A89AB77F8}"/>
              </a:ext>
            </a:extLst>
          </p:cNvPr>
          <p:cNvSpPr>
            <a:spLocks noGrp="1"/>
          </p:cNvSpPr>
          <p:nvPr>
            <p:ph idx="1"/>
          </p:nvPr>
        </p:nvSpPr>
        <p:spPr>
          <a:xfrm>
            <a:off x="838200" y="1022555"/>
            <a:ext cx="10515600" cy="5154408"/>
          </a:xfrm>
        </p:spPr>
        <p:txBody>
          <a:bodyPr>
            <a:normAutofit lnSpcReduction="10000"/>
          </a:bodyPr>
          <a:lstStyle/>
          <a:p>
            <a:r>
              <a:rPr lang="en-IN" sz="2200" dirty="0"/>
              <a:t>The scope of this work can be significantly expanded by moving beyond ideal CMP </a:t>
            </a:r>
            <a:r>
              <a:rPr lang="en-IN" sz="2200" dirty="0" err="1"/>
              <a:t>modeling</a:t>
            </a:r>
            <a:r>
              <a:rPr lang="en-IN" sz="2200" dirty="0"/>
              <a:t> to include physically realistic effects such as dishing, erosion, scratching, and non-uniform material removal. </a:t>
            </a:r>
          </a:p>
          <a:p>
            <a:r>
              <a:rPr lang="en-IN" sz="2200" dirty="0"/>
              <a:t>Incorporating slurry chemistry parameters, pad wear, temperature effects, and pressure non-uniformity would allow a more accurate representation of industrial CMP processes.</a:t>
            </a:r>
          </a:p>
          <a:p>
            <a:r>
              <a:rPr lang="en-IN" sz="2200" dirty="0"/>
              <a:t> Extending the simulations from 2D to full 3D structures would enable the study of layout- and pattern-density–dependent planarization effects, which are critical in advanced interconnect technologies.</a:t>
            </a:r>
          </a:p>
          <a:p>
            <a:r>
              <a:rPr lang="en-IN" sz="2200" dirty="0"/>
              <a:t>Future studies may also focus on CMP of different materials such as copper, low-k dielectrics, and barrier layers to evaluate selectivity and defect mechanisms. Integration of CMP simulations with experimental calibration data can enhance model reliability and predictive capability. </a:t>
            </a:r>
          </a:p>
          <a:p>
            <a:r>
              <a:rPr lang="en-IN" sz="2200" dirty="0"/>
              <a:t>Additionally, machine learning–assisted CMP optimization and multi-physics coupling (mechanical, chemical, and thermal) can be explored to improve process control and scalability for next-generation semiconductor technology nodes.</a:t>
            </a:r>
          </a:p>
          <a:p>
            <a:pPr marL="0" indent="0">
              <a:buNone/>
            </a:pPr>
            <a:endParaRPr lang="en-IN" dirty="0"/>
          </a:p>
        </p:txBody>
      </p:sp>
    </p:spTree>
    <p:extLst>
      <p:ext uri="{BB962C8B-B14F-4D97-AF65-F5344CB8AC3E}">
        <p14:creationId xmlns:p14="http://schemas.microsoft.com/office/powerpoint/2010/main" val="12360634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82080-4CC5-5528-28CA-0D28D79B2C2F}"/>
              </a:ext>
            </a:extLst>
          </p:cNvPr>
          <p:cNvSpPr>
            <a:spLocks noGrp="1"/>
          </p:cNvSpPr>
          <p:nvPr>
            <p:ph type="title"/>
          </p:nvPr>
        </p:nvSpPr>
        <p:spPr>
          <a:xfrm>
            <a:off x="838200" y="138984"/>
            <a:ext cx="10515600" cy="1325563"/>
          </a:xfrm>
        </p:spPr>
        <p:txBody>
          <a:bodyPr/>
          <a:lstStyle/>
          <a:p>
            <a:r>
              <a:rPr lang="en-IN" dirty="0"/>
              <a:t>Conclusion</a:t>
            </a:r>
          </a:p>
        </p:txBody>
      </p:sp>
      <p:sp>
        <p:nvSpPr>
          <p:cNvPr id="3" name="Content Placeholder 2">
            <a:extLst>
              <a:ext uri="{FF2B5EF4-FFF2-40B4-BE49-F238E27FC236}">
                <a16:creationId xmlns:a16="http://schemas.microsoft.com/office/drawing/2014/main" id="{23D50E76-D2BB-A6AA-8FBE-DA0D4E8078B1}"/>
              </a:ext>
            </a:extLst>
          </p:cNvPr>
          <p:cNvSpPr>
            <a:spLocks noGrp="1"/>
          </p:cNvSpPr>
          <p:nvPr>
            <p:ph idx="1"/>
          </p:nvPr>
        </p:nvSpPr>
        <p:spPr>
          <a:xfrm>
            <a:off x="838200" y="1553496"/>
            <a:ext cx="10515600" cy="4593969"/>
          </a:xfrm>
        </p:spPr>
        <p:txBody>
          <a:bodyPr>
            <a:normAutofit/>
          </a:bodyPr>
          <a:lstStyle/>
          <a:p>
            <a:pPr marL="0" indent="0">
              <a:buNone/>
            </a:pPr>
            <a:r>
              <a:rPr lang="en-US" sz="2000" dirty="0"/>
              <a:t>This project successfully demonstrates the role of Chemical Mechanical Planarization (CMP) in achieving surface flatness using Synopsys </a:t>
            </a:r>
            <a:r>
              <a:rPr lang="en-US" sz="2000" dirty="0" err="1"/>
              <a:t>Sentaurus</a:t>
            </a:r>
            <a:r>
              <a:rPr lang="en-US" sz="2000" dirty="0"/>
              <a:t> TCAD. A two-dimensional process flow involving trench etching, oxide deposition, and CMP planarization was modeled to study surface topography evolution. The results show that CMP effectively removes oxide overburden and produces a uniformly planar surface, which is essential for advanced semiconductor fabrication. Although the simulation assumes ideal CMP behavior and does not include defect mechanisms such as dishing or erosion, it provides clear insight into planarization efficiency and geometry evolution. Overall, the study highlights the usefulness of TCAD-based CMP modeling as a valuable tool for understanding and analyzing planarization processes in early-stage process development.</a:t>
            </a:r>
            <a:endParaRPr lang="en-IN" sz="2000" dirty="0"/>
          </a:p>
        </p:txBody>
      </p:sp>
    </p:spTree>
    <p:extLst>
      <p:ext uri="{BB962C8B-B14F-4D97-AF65-F5344CB8AC3E}">
        <p14:creationId xmlns:p14="http://schemas.microsoft.com/office/powerpoint/2010/main" val="3098574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E3ED-C1CE-76B1-231F-9C4BDD042D84}"/>
              </a:ext>
            </a:extLst>
          </p:cNvPr>
          <p:cNvSpPr>
            <a:spLocks noGrp="1"/>
          </p:cNvSpPr>
          <p:nvPr>
            <p:ph type="title"/>
          </p:nvPr>
        </p:nvSpPr>
        <p:spPr>
          <a:xfrm>
            <a:off x="503904" y="-205146"/>
            <a:ext cx="10515600" cy="1325563"/>
          </a:xfrm>
        </p:spPr>
        <p:txBody>
          <a:bodyPr/>
          <a:lstStyle/>
          <a:p>
            <a:r>
              <a:rPr lang="en-IN" dirty="0"/>
              <a:t>References</a:t>
            </a:r>
          </a:p>
        </p:txBody>
      </p:sp>
      <p:sp>
        <p:nvSpPr>
          <p:cNvPr id="3" name="Content Placeholder 2">
            <a:extLst>
              <a:ext uri="{FF2B5EF4-FFF2-40B4-BE49-F238E27FC236}">
                <a16:creationId xmlns:a16="http://schemas.microsoft.com/office/drawing/2014/main" id="{A403E5CA-192A-ED51-784C-5950EF9F600D}"/>
              </a:ext>
            </a:extLst>
          </p:cNvPr>
          <p:cNvSpPr>
            <a:spLocks noGrp="1"/>
          </p:cNvSpPr>
          <p:nvPr>
            <p:ph idx="1"/>
          </p:nvPr>
        </p:nvSpPr>
        <p:spPr>
          <a:xfrm>
            <a:off x="838200" y="924232"/>
            <a:ext cx="10515600" cy="5933768"/>
          </a:xfrm>
        </p:spPr>
        <p:txBody>
          <a:bodyPr>
            <a:normAutofit fontScale="55000" lnSpcReduction="20000"/>
          </a:bodyPr>
          <a:lstStyle/>
          <a:p>
            <a:pPr lvl="0">
              <a:buFont typeface="Wingdings" panose="05000000000000000000" pitchFamily="2" charset="2"/>
              <a:buChar char="q"/>
            </a:pPr>
            <a:r>
              <a:rPr lang="en-IN" dirty="0">
                <a:solidFill>
                  <a:srgbClr val="FF0000"/>
                </a:solidFill>
              </a:rPr>
              <a:t> M. Krishnan, J. W. </a:t>
            </a:r>
            <a:r>
              <a:rPr lang="en-IN" dirty="0" err="1">
                <a:solidFill>
                  <a:srgbClr val="FF0000"/>
                </a:solidFill>
              </a:rPr>
              <a:t>Nalaskowski</a:t>
            </a:r>
            <a:r>
              <a:rPr lang="en-IN" dirty="0">
                <a:solidFill>
                  <a:srgbClr val="FF0000"/>
                </a:solidFill>
              </a:rPr>
              <a:t>, and L. M. Cook, “Chemical Mechanical Planarization: Slurry Chemistry, Materials, and Mechanisms,” Chemical Reviews, 2009.</a:t>
            </a:r>
          </a:p>
          <a:p>
            <a:pPr lvl="0">
              <a:buFont typeface="Wingdings" panose="05000000000000000000" pitchFamily="2" charset="2"/>
              <a:buChar char="q"/>
            </a:pPr>
            <a:r>
              <a:rPr lang="en-IN" dirty="0">
                <a:solidFill>
                  <a:srgbClr val="FF0000"/>
                </a:solidFill>
              </a:rPr>
              <a:t>P. B. </a:t>
            </a:r>
            <a:r>
              <a:rPr lang="en-IN" dirty="0" err="1">
                <a:solidFill>
                  <a:srgbClr val="FF0000"/>
                </a:solidFill>
              </a:rPr>
              <a:t>Zantye</a:t>
            </a:r>
            <a:r>
              <a:rPr lang="en-IN" dirty="0">
                <a:solidFill>
                  <a:srgbClr val="FF0000"/>
                </a:solidFill>
              </a:rPr>
              <a:t>, A. Kumar, and A. K. Sikder, “Chemical mechanical planarization for microelectronics applications,” Materials Science and Engineering R, vol. 45, pp. 89–220, 2004.</a:t>
            </a:r>
          </a:p>
          <a:p>
            <a:pPr lvl="0">
              <a:buFont typeface="Wingdings" panose="05000000000000000000" pitchFamily="2" charset="2"/>
              <a:buChar char="q"/>
            </a:pPr>
            <a:r>
              <a:rPr lang="en-IN" dirty="0">
                <a:solidFill>
                  <a:srgbClr val="FF0000"/>
                </a:solidFill>
              </a:rPr>
              <a:t>K. </a:t>
            </a:r>
            <a:r>
              <a:rPr lang="en-IN" dirty="0" err="1">
                <a:solidFill>
                  <a:srgbClr val="FF0000"/>
                </a:solidFill>
              </a:rPr>
              <a:t>Gamagedara</a:t>
            </a:r>
            <a:r>
              <a:rPr lang="en-IN" dirty="0">
                <a:solidFill>
                  <a:srgbClr val="FF0000"/>
                </a:solidFill>
              </a:rPr>
              <a:t> and D. Roy, “Experimental strategies for studying tribo-electrochemical aspects of chemical mechanical planarization,” Lubricants, vol. 12, no. 2, 2024.</a:t>
            </a:r>
          </a:p>
          <a:p>
            <a:pPr lvl="0">
              <a:buFont typeface="Wingdings" panose="05000000000000000000" pitchFamily="2" charset="2"/>
              <a:buChar char="q"/>
            </a:pPr>
            <a:r>
              <a:rPr lang="en-IN" dirty="0">
                <a:solidFill>
                  <a:srgbClr val="FF0000"/>
                </a:solidFill>
              </a:rPr>
              <a:t>T.-Y. Kwon, M. Ramachandran, and J.-G. Park, “Scratch formation and its mechanism in chemical mechanical planarization (CMP),” Friction, vol. 1, no. 4, pp. 279–305, Dec. 2013, </a:t>
            </a:r>
            <a:r>
              <a:rPr lang="en-IN" dirty="0" err="1">
                <a:solidFill>
                  <a:srgbClr val="FF0000"/>
                </a:solidFill>
              </a:rPr>
              <a:t>doi</a:t>
            </a:r>
            <a:r>
              <a:rPr lang="en-IN" dirty="0">
                <a:solidFill>
                  <a:srgbClr val="FF0000"/>
                </a:solidFill>
              </a:rPr>
              <a:t>: 10.1007/s40544-013-0026-y.</a:t>
            </a:r>
          </a:p>
          <a:p>
            <a:pPr lvl="0">
              <a:buFont typeface="Wingdings" panose="05000000000000000000" pitchFamily="2" charset="2"/>
              <a:buChar char="q"/>
            </a:pPr>
            <a:r>
              <a:rPr lang="en-IN" dirty="0">
                <a:solidFill>
                  <a:srgbClr val="FF0000"/>
                </a:solidFill>
              </a:rPr>
              <a:t>K.-T. Yeh and H.-Y. Tsai, “Mechanically </a:t>
            </a:r>
            <a:r>
              <a:rPr lang="en-IN" dirty="0" err="1">
                <a:solidFill>
                  <a:srgbClr val="FF0000"/>
                </a:solidFill>
              </a:rPr>
              <a:t>modeling</a:t>
            </a:r>
            <a:r>
              <a:rPr lang="en-IN" dirty="0">
                <a:solidFill>
                  <a:srgbClr val="FF0000"/>
                </a:solidFill>
              </a:rPr>
              <a:t> chemical mechanical planarization from wafer to molecular scales: A review and discussion of future direction,” Journal of Mechanics, vol. 40, pp. 769–773, Dec. 2024, </a:t>
            </a:r>
            <a:r>
              <a:rPr lang="en-IN" dirty="0" err="1">
                <a:solidFill>
                  <a:srgbClr val="FF0000"/>
                </a:solidFill>
              </a:rPr>
              <a:t>doi</a:t>
            </a:r>
            <a:r>
              <a:rPr lang="en-IN" dirty="0">
                <a:solidFill>
                  <a:srgbClr val="FF0000"/>
                </a:solidFill>
              </a:rPr>
              <a:t>: 10.1093/</a:t>
            </a:r>
            <a:r>
              <a:rPr lang="en-IN" dirty="0" err="1">
                <a:solidFill>
                  <a:srgbClr val="FF0000"/>
                </a:solidFill>
              </a:rPr>
              <a:t>jom</a:t>
            </a:r>
            <a:r>
              <a:rPr lang="en-IN" dirty="0">
                <a:solidFill>
                  <a:srgbClr val="FF0000"/>
                </a:solidFill>
              </a:rPr>
              <a:t>/ufae055.</a:t>
            </a:r>
          </a:p>
          <a:p>
            <a:pPr lvl="0">
              <a:buFont typeface="Wingdings" panose="05000000000000000000" pitchFamily="2" charset="2"/>
              <a:buChar char="q"/>
            </a:pPr>
            <a:r>
              <a:rPr lang="en-IN" dirty="0">
                <a:solidFill>
                  <a:srgbClr val="FF0000"/>
                </a:solidFill>
              </a:rPr>
              <a:t>G. Winkler, T. Rothe, M. A. Sayyed, L. </a:t>
            </a:r>
            <a:r>
              <a:rPr lang="en-IN" dirty="0" err="1">
                <a:solidFill>
                  <a:srgbClr val="FF0000"/>
                </a:solidFill>
              </a:rPr>
              <a:t>Jäckel</a:t>
            </a:r>
            <a:r>
              <a:rPr lang="en-IN" dirty="0">
                <a:solidFill>
                  <a:srgbClr val="FF0000"/>
                </a:solidFill>
              </a:rPr>
              <a:t>, J. Langer, H. Kuhn, and M. Stoll, “Machine learning in chemical–mechanical planarization: A comprehensive review of trends, applications, and challenges,” Advanced Engineering Informatics, vol. 68, Nov. 2025, Art. no. 103663, </a:t>
            </a:r>
            <a:r>
              <a:rPr lang="en-IN" dirty="0" err="1">
                <a:solidFill>
                  <a:srgbClr val="FF0000"/>
                </a:solidFill>
              </a:rPr>
              <a:t>doi</a:t>
            </a:r>
            <a:r>
              <a:rPr lang="en-IN" dirty="0">
                <a:solidFill>
                  <a:srgbClr val="FF0000"/>
                </a:solidFill>
              </a:rPr>
              <a:t>: 10.1016/j.aei.2025.103663.</a:t>
            </a:r>
          </a:p>
          <a:p>
            <a:pPr lvl="0">
              <a:buFont typeface="Wingdings" panose="05000000000000000000" pitchFamily="2" charset="2"/>
              <a:buChar char="q"/>
            </a:pPr>
            <a:r>
              <a:rPr lang="en-IN" dirty="0">
                <a:solidFill>
                  <a:srgbClr val="FF0000"/>
                </a:solidFill>
              </a:rPr>
              <a:t>D. Müller, S. Park, I. González, P. Nowak, J. Chen, and A. </a:t>
            </a:r>
            <a:r>
              <a:rPr lang="en-IN" dirty="0" err="1">
                <a:solidFill>
                  <a:srgbClr val="FF0000"/>
                </a:solidFill>
              </a:rPr>
              <a:t>Rahman,“Nanoparticles</a:t>
            </a:r>
            <a:r>
              <a:rPr lang="en-IN" dirty="0">
                <a:solidFill>
                  <a:srgbClr val="FF0000"/>
                </a:solidFill>
              </a:rPr>
              <a:t> for chemical mechanical planarization: A review,” Nanomaterials, vol. 15, no. 17, 2025.</a:t>
            </a:r>
          </a:p>
          <a:p>
            <a:pPr lvl="0">
              <a:buFont typeface="Wingdings" panose="05000000000000000000" pitchFamily="2" charset="2"/>
              <a:buChar char="q"/>
            </a:pPr>
            <a:r>
              <a:rPr lang="en-US" dirty="0">
                <a:solidFill>
                  <a:srgbClr val="FF0000"/>
                </a:solidFill>
              </a:rPr>
              <a:t>S. B. K. </a:t>
            </a:r>
            <a:r>
              <a:rPr lang="en-US" dirty="0" err="1">
                <a:solidFill>
                  <a:srgbClr val="FF0000"/>
                </a:solidFill>
              </a:rPr>
              <a:t>Vrudhula</a:t>
            </a:r>
            <a:r>
              <a:rPr lang="en-US" dirty="0">
                <a:solidFill>
                  <a:srgbClr val="FF0000"/>
                </a:solidFill>
              </a:rPr>
              <a:t> and S. </a:t>
            </a:r>
            <a:r>
              <a:rPr lang="en-US" dirty="0" err="1">
                <a:solidFill>
                  <a:srgbClr val="FF0000"/>
                </a:solidFill>
              </a:rPr>
              <a:t>Sapatnekar,“Statistical</a:t>
            </a:r>
            <a:r>
              <a:rPr lang="en-US" dirty="0">
                <a:solidFill>
                  <a:srgbClr val="FF0000"/>
                </a:solidFill>
              </a:rPr>
              <a:t> and machine learning methods for semiconductor </a:t>
            </a:r>
            <a:r>
              <a:rPr lang="en-US" dirty="0" err="1">
                <a:solidFill>
                  <a:srgbClr val="FF0000"/>
                </a:solidFill>
              </a:rPr>
              <a:t>manufacturing,”IEEE</a:t>
            </a:r>
            <a:r>
              <a:rPr lang="en-US" dirty="0">
                <a:solidFill>
                  <a:srgbClr val="FF0000"/>
                </a:solidFill>
              </a:rPr>
              <a:t> Transactions on Semiconductor Manufacturing, vol. 34, no. 3, pp. 321–335, Aug. 2021.</a:t>
            </a:r>
            <a:endParaRPr lang="en-IN" dirty="0">
              <a:solidFill>
                <a:srgbClr val="FF0000"/>
              </a:solidFill>
            </a:endParaRPr>
          </a:p>
          <a:p>
            <a:pPr>
              <a:buFont typeface="Wingdings" panose="05000000000000000000" pitchFamily="2" charset="2"/>
              <a:buChar char="q"/>
            </a:pPr>
            <a:r>
              <a:rPr lang="en-US" dirty="0">
                <a:solidFill>
                  <a:srgbClr val="FF0000"/>
                </a:solidFill>
              </a:rPr>
              <a:t>S. Luo, D. A. Dornfeld, and F. </a:t>
            </a:r>
            <a:r>
              <a:rPr lang="en-US" dirty="0" err="1">
                <a:solidFill>
                  <a:srgbClr val="FF0000"/>
                </a:solidFill>
              </a:rPr>
              <a:t>Pei,“Material</a:t>
            </a:r>
            <a:r>
              <a:rPr lang="en-US" dirty="0">
                <a:solidFill>
                  <a:srgbClr val="FF0000"/>
                </a:solidFill>
              </a:rPr>
              <a:t> removal mechanism in chemical mechanical planarization:  From wafer to molecular </a:t>
            </a:r>
            <a:r>
              <a:rPr lang="en-US" dirty="0" err="1">
                <a:solidFill>
                  <a:srgbClr val="FF0000"/>
                </a:solidFill>
              </a:rPr>
              <a:t>scale,”IEEE</a:t>
            </a:r>
            <a:r>
              <a:rPr lang="en-US" dirty="0">
                <a:solidFill>
                  <a:srgbClr val="FF0000"/>
                </a:solidFill>
              </a:rPr>
              <a:t> Transactions on Semiconductor Manufacturing,</a:t>
            </a:r>
            <a:br>
              <a:rPr lang="en-US" dirty="0">
                <a:solidFill>
                  <a:srgbClr val="FF0000"/>
                </a:solidFill>
              </a:rPr>
            </a:br>
            <a:r>
              <a:rPr lang="en-US" dirty="0">
                <a:solidFill>
                  <a:srgbClr val="FF0000"/>
                </a:solidFill>
              </a:rPr>
              <a:t>vol. 14, no. 2, pp. 112–133, May 2001.</a:t>
            </a:r>
            <a:endParaRPr lang="en-IN" dirty="0">
              <a:solidFill>
                <a:srgbClr val="FF0000"/>
              </a:solidFill>
            </a:endParaRPr>
          </a:p>
          <a:p>
            <a:pPr>
              <a:buFont typeface="Wingdings" panose="05000000000000000000" pitchFamily="2" charset="2"/>
              <a:buChar char="q"/>
            </a:pPr>
            <a:r>
              <a:rPr lang="en-IN" dirty="0">
                <a:solidFill>
                  <a:srgbClr val="FF0000"/>
                </a:solidFill>
              </a:rPr>
              <a:t>S. Luo, D. A. Dornfeld, and F. </a:t>
            </a:r>
            <a:r>
              <a:rPr lang="en-IN" dirty="0" err="1">
                <a:solidFill>
                  <a:srgbClr val="FF0000"/>
                </a:solidFill>
              </a:rPr>
              <a:t>Pei,“Mechanisms</a:t>
            </a:r>
            <a:r>
              <a:rPr lang="en-IN" dirty="0">
                <a:solidFill>
                  <a:srgbClr val="FF0000"/>
                </a:solidFill>
              </a:rPr>
              <a:t> of defect generation in chemical mechanical polishing,”</a:t>
            </a:r>
            <a:br>
              <a:rPr lang="en-IN" dirty="0">
                <a:solidFill>
                  <a:srgbClr val="FF0000"/>
                </a:solidFill>
              </a:rPr>
            </a:br>
            <a:r>
              <a:rPr lang="en-IN" dirty="0">
                <a:solidFill>
                  <a:srgbClr val="FF0000"/>
                </a:solidFill>
              </a:rPr>
              <a:t>Wear, vol. 257, nos. 9–10, pp. 1005–1013, 2004.</a:t>
            </a:r>
          </a:p>
          <a:p>
            <a:pPr>
              <a:buFont typeface="Wingdings" panose="05000000000000000000" pitchFamily="2" charset="2"/>
              <a:buChar char="q"/>
            </a:pPr>
            <a:r>
              <a:rPr lang="en-US" dirty="0">
                <a:solidFill>
                  <a:srgbClr val="FF0000"/>
                </a:solidFill>
              </a:rPr>
              <a:t>H. </a:t>
            </a:r>
            <a:r>
              <a:rPr lang="en-US" dirty="0" err="1">
                <a:solidFill>
                  <a:srgbClr val="FF0000"/>
                </a:solidFill>
              </a:rPr>
              <a:t>Bellahsene</a:t>
            </a:r>
            <a:r>
              <a:rPr lang="en-US" dirty="0">
                <a:solidFill>
                  <a:srgbClr val="FF0000"/>
                </a:solidFill>
              </a:rPr>
              <a:t>, S. Sene, G. Félix, J. Larionova, M. Ferrari, and Y. </a:t>
            </a:r>
            <a:r>
              <a:rPr lang="en-US" dirty="0" err="1">
                <a:solidFill>
                  <a:srgbClr val="FF0000"/>
                </a:solidFill>
              </a:rPr>
              <a:t>Guari,“Nanoparticles</a:t>
            </a:r>
            <a:r>
              <a:rPr lang="en-US" dirty="0">
                <a:solidFill>
                  <a:srgbClr val="FF0000"/>
                </a:solidFill>
              </a:rPr>
              <a:t> for chemical mechanical planarization: A </a:t>
            </a:r>
            <a:r>
              <a:rPr lang="en-US" dirty="0" err="1">
                <a:solidFill>
                  <a:srgbClr val="FF0000"/>
                </a:solidFill>
              </a:rPr>
              <a:t>review,”Nanomaterials</a:t>
            </a:r>
            <a:r>
              <a:rPr lang="en-US" dirty="0">
                <a:solidFill>
                  <a:srgbClr val="FF0000"/>
                </a:solidFill>
              </a:rPr>
              <a:t>, vol. 13, no. 17, Article 2456, 2023.</a:t>
            </a:r>
            <a:endParaRPr lang="en-IN" dirty="0">
              <a:solidFill>
                <a:srgbClr val="FF0000"/>
              </a:solidFill>
            </a:endParaRPr>
          </a:p>
          <a:p>
            <a:pPr>
              <a:buFont typeface="Wingdings" panose="05000000000000000000" pitchFamily="2" charset="2"/>
              <a:buChar char="q"/>
            </a:pPr>
            <a:r>
              <a:rPr lang="en-IN" dirty="0">
                <a:solidFill>
                  <a:srgbClr val="FF0000"/>
                </a:solidFill>
              </a:rPr>
              <a:t>B. H. </a:t>
            </a:r>
            <a:r>
              <a:rPr lang="en-IN" dirty="0" err="1">
                <a:solidFill>
                  <a:srgbClr val="FF0000"/>
                </a:solidFill>
              </a:rPr>
              <a:t>Cook,“Chemical</a:t>
            </a:r>
            <a:r>
              <a:rPr lang="en-IN" dirty="0">
                <a:solidFill>
                  <a:srgbClr val="FF0000"/>
                </a:solidFill>
              </a:rPr>
              <a:t> processes in chemical mechanical </a:t>
            </a:r>
            <a:r>
              <a:rPr lang="en-IN" dirty="0" err="1">
                <a:solidFill>
                  <a:srgbClr val="FF0000"/>
                </a:solidFill>
              </a:rPr>
              <a:t>polishing,”Journal</a:t>
            </a:r>
            <a:r>
              <a:rPr lang="en-IN" dirty="0">
                <a:solidFill>
                  <a:srgbClr val="FF0000"/>
                </a:solidFill>
              </a:rPr>
              <a:t> of The Electrochemical </a:t>
            </a:r>
            <a:r>
              <a:rPr lang="en-IN" dirty="0" err="1">
                <a:solidFill>
                  <a:srgbClr val="FF0000"/>
                </a:solidFill>
              </a:rPr>
              <a:t>Society,vol</a:t>
            </a:r>
            <a:r>
              <a:rPr lang="en-IN" dirty="0">
                <a:solidFill>
                  <a:srgbClr val="FF0000"/>
                </a:solidFill>
              </a:rPr>
              <a:t>. 137, no. 6, pp. 1937–1944, 1990.</a:t>
            </a:r>
          </a:p>
          <a:p>
            <a:pPr>
              <a:buFont typeface="Wingdings" panose="05000000000000000000" pitchFamily="2" charset="2"/>
              <a:buChar char="q"/>
            </a:pPr>
            <a:endParaRPr lang="en-IN" dirty="0">
              <a:solidFill>
                <a:srgbClr val="FF0000"/>
              </a:solidFill>
            </a:endParaRPr>
          </a:p>
        </p:txBody>
      </p:sp>
    </p:spTree>
    <p:extLst>
      <p:ext uri="{BB962C8B-B14F-4D97-AF65-F5344CB8AC3E}">
        <p14:creationId xmlns:p14="http://schemas.microsoft.com/office/powerpoint/2010/main" val="2077922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1836</TotalTime>
  <Words>5807</Words>
  <Application>Microsoft Office PowerPoint</Application>
  <PresentationFormat>Widescreen</PresentationFormat>
  <Paragraphs>264</Paragraphs>
  <Slides>30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Aptos Display</vt:lpstr>
      <vt:lpstr>Arial</vt:lpstr>
      <vt:lpstr>Cambria Math</vt:lpstr>
      <vt:lpstr>Wingdings</vt:lpstr>
      <vt:lpstr>Office Theme</vt:lpstr>
      <vt:lpstr>BEVD305L-VLSI Technology Course Project  Project Title : Chemical Mechanical Polishing Planarization Study and to analyse surface flatness improvement.      </vt:lpstr>
      <vt:lpstr>CMP using Sentaurus TCAD</vt:lpstr>
      <vt:lpstr>Introduction</vt:lpstr>
      <vt:lpstr>Motivation</vt:lpstr>
      <vt:lpstr>Applications of CMP Planarization </vt:lpstr>
      <vt:lpstr>   Background</vt:lpstr>
      <vt:lpstr>PowerPoint Presentation</vt:lpstr>
      <vt:lpstr>Methodology </vt:lpstr>
      <vt:lpstr>PowerPoint Presentation</vt:lpstr>
      <vt:lpstr>Mechanism of Chemical Mechanical Polishing (CMP) </vt:lpstr>
      <vt:lpstr>PowerPoint Presentation</vt:lpstr>
      <vt:lpstr>PowerPoint Presentation</vt:lpstr>
      <vt:lpstr>PowerPoint Presentation</vt:lpstr>
      <vt:lpstr>PowerPoint Presentation</vt:lpstr>
      <vt:lpstr>Figure of Merit</vt:lpstr>
      <vt:lpstr>Comparison of Figure of merit </vt:lpstr>
      <vt:lpstr>Simulation of 2D Chemical Mechanical Polishing (CMP) Planarization </vt:lpstr>
      <vt:lpstr>PowerPoint Presentation</vt:lpstr>
      <vt:lpstr>Model Parameters used</vt:lpstr>
      <vt:lpstr>PowerPoint Presentation</vt:lpstr>
      <vt:lpstr>Sentaurus Simulation Strucutres:-</vt:lpstr>
      <vt:lpstr>PowerPoint Presentation</vt:lpstr>
      <vt:lpstr>PowerPoint Presentation</vt:lpstr>
      <vt:lpstr>PowerPoint Presentation</vt:lpstr>
      <vt:lpstr>PowerPoint Presentation</vt:lpstr>
      <vt:lpstr>Calculation of Planarization Efficiency:-</vt:lpstr>
      <vt:lpstr>Limitations of current CMP models </vt:lpstr>
      <vt:lpstr>Future Scope</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jai shah</dc:creator>
  <cp:lastModifiedBy>jai shah</cp:lastModifiedBy>
  <cp:revision>6</cp:revision>
  <dcterms:created xsi:type="dcterms:W3CDTF">2026-03-27T12:52:25Z</dcterms:created>
  <dcterms:modified xsi:type="dcterms:W3CDTF">2026-04-15T07:32:24Z</dcterms:modified>
</cp:coreProperties>
</file>